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7" r:id="rId3"/>
    <p:sldId id="328" r:id="rId4"/>
    <p:sldId id="288" r:id="rId5"/>
    <p:sldId id="289" r:id="rId6"/>
    <p:sldId id="290" r:id="rId7"/>
    <p:sldId id="292" r:id="rId8"/>
    <p:sldId id="259" r:id="rId9"/>
    <p:sldId id="260" r:id="rId10"/>
    <p:sldId id="261" r:id="rId11"/>
    <p:sldId id="262" r:id="rId12"/>
    <p:sldId id="293" r:id="rId13"/>
    <p:sldId id="320" r:id="rId14"/>
    <p:sldId id="294" r:id="rId15"/>
    <p:sldId id="297" r:id="rId16"/>
    <p:sldId id="298" r:id="rId17"/>
    <p:sldId id="299" r:id="rId18"/>
    <p:sldId id="300" r:id="rId19"/>
    <p:sldId id="302" r:id="rId20"/>
    <p:sldId id="305" r:id="rId21"/>
    <p:sldId id="303" r:id="rId22"/>
    <p:sldId id="304" r:id="rId23"/>
    <p:sldId id="321" r:id="rId24"/>
    <p:sldId id="295" r:id="rId25"/>
    <p:sldId id="296" r:id="rId26"/>
    <p:sldId id="316" r:id="rId27"/>
    <p:sldId id="301" r:id="rId28"/>
    <p:sldId id="306" r:id="rId29"/>
    <p:sldId id="308" r:id="rId30"/>
    <p:sldId id="307" r:id="rId31"/>
    <p:sldId id="322" r:id="rId32"/>
    <p:sldId id="318" r:id="rId33"/>
    <p:sldId id="317" r:id="rId34"/>
    <p:sldId id="309" r:id="rId35"/>
    <p:sldId id="310" r:id="rId36"/>
    <p:sldId id="311" r:id="rId37"/>
    <p:sldId id="323" r:id="rId38"/>
    <p:sldId id="324" r:id="rId39"/>
    <p:sldId id="325" r:id="rId40"/>
    <p:sldId id="326" r:id="rId41"/>
    <p:sldId id="312" r:id="rId42"/>
    <p:sldId id="313" r:id="rId43"/>
    <p:sldId id="314" r:id="rId44"/>
    <p:sldId id="282" r:id="rId45"/>
    <p:sldId id="283" r:id="rId46"/>
    <p:sldId id="284" r:id="rId47"/>
    <p:sldId id="285" r:id="rId48"/>
    <p:sldId id="286" r:id="rId49"/>
    <p:sldId id="315" r:id="rId50"/>
    <p:sldId id="287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4660"/>
  </p:normalViewPr>
  <p:slideViewPr>
    <p:cSldViewPr snapToGrid="0">
      <p:cViewPr varScale="1">
        <p:scale>
          <a:sx n="89" d="100"/>
          <a:sy n="89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9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8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7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2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3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4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2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18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E34B-D56C-429D-8001-30513924F957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EEAA6-4009-408D-87CE-5BCDB0C1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6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9634" y="2841744"/>
            <a:ext cx="1803043" cy="29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cs typeface="+mj-cs"/>
              </a:rPr>
              <a:t>………………..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4192069" y="2841744"/>
            <a:ext cx="360608" cy="29621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4192069" y="2841744"/>
            <a:ext cx="0" cy="29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128972" y="2831097"/>
            <a:ext cx="1803043" cy="29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>
                <a:solidFill>
                  <a:schemeClr val="tx1"/>
                </a:solidFill>
                <a:cs typeface="+mj-cs"/>
              </a:rPr>
              <a:t>งบดำเนินงาน</a:t>
            </a:r>
            <a:endParaRPr lang="en-US" sz="16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0571407" y="2839388"/>
            <a:ext cx="360608" cy="29621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10571407" y="2850427"/>
            <a:ext cx="0" cy="29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26992" y="40951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ค้นหา</a:t>
            </a:r>
            <a:endParaRPr lang="en-US" sz="1600" b="1" dirty="0">
              <a:cs typeface="+mj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90177" y="443373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71992" y="4433739"/>
            <a:ext cx="1547616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 (บาท)</a:t>
            </a:r>
            <a:endParaRPr lang="en-US" sz="1600" b="1" dirty="0">
              <a:cs typeface="+mj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490177" y="4885693"/>
            <a:ext cx="7457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ค่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าเช่าบ้าน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71992" y="4905262"/>
            <a:ext cx="6222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100,000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0177" y="5313739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0177" y="5624727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393583" y="6015356"/>
            <a:ext cx="7553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รวมทั้งสิ้น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542821" y="524381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2821" y="5582370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2821" y="5963281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2749634" y="2273596"/>
            <a:ext cx="1803043" cy="29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cs typeface="+mj-cs"/>
              </a:rPr>
              <a:t>…………………</a:t>
            </a:r>
          </a:p>
        </p:txBody>
      </p:sp>
      <p:sp>
        <p:nvSpPr>
          <p:cNvPr id="51" name="Isosceles Triangle 50"/>
          <p:cNvSpPr/>
          <p:nvPr/>
        </p:nvSpPr>
        <p:spPr>
          <a:xfrm rot="10800000">
            <a:off x="4192069" y="2273596"/>
            <a:ext cx="360608" cy="29621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2" name="Straight Connector 51"/>
          <p:cNvCxnSpPr/>
          <p:nvPr/>
        </p:nvCxnSpPr>
        <p:spPr>
          <a:xfrm>
            <a:off x="4192069" y="2273596"/>
            <a:ext cx="0" cy="29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128972" y="2246193"/>
            <a:ext cx="1803043" cy="29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cs typeface="+mj-cs"/>
              </a:rPr>
              <a:t>………………</a:t>
            </a:r>
          </a:p>
        </p:txBody>
      </p:sp>
      <p:sp>
        <p:nvSpPr>
          <p:cNvPr id="54" name="Isosceles Triangle 53"/>
          <p:cNvSpPr/>
          <p:nvPr/>
        </p:nvSpPr>
        <p:spPr>
          <a:xfrm rot="10800000">
            <a:off x="10571407" y="2246193"/>
            <a:ext cx="360608" cy="29621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10571407" y="2246193"/>
            <a:ext cx="0" cy="29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749634" y="3395053"/>
            <a:ext cx="1803043" cy="29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>
                <a:solidFill>
                  <a:schemeClr val="tx1"/>
                </a:solidFill>
                <a:cs typeface="+mj-cs"/>
              </a:rPr>
              <a:t>ค่าตอบแทน</a:t>
            </a:r>
            <a:endParaRPr lang="en-US" sz="16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58" name="Isosceles Triangle 57"/>
          <p:cNvSpPr/>
          <p:nvPr/>
        </p:nvSpPr>
        <p:spPr>
          <a:xfrm rot="10800000">
            <a:off x="4192069" y="3395053"/>
            <a:ext cx="360608" cy="296214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59" name="Straight Connector 58"/>
          <p:cNvCxnSpPr/>
          <p:nvPr/>
        </p:nvCxnSpPr>
        <p:spPr>
          <a:xfrm>
            <a:off x="4192069" y="3395053"/>
            <a:ext cx="0" cy="296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0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318975" y="1208892"/>
            <a:ext cx="16129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เงินเดือนและค่าจ้างประจำ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="" xmlns:a16="http://schemas.microsoft.com/office/drawing/2014/main" id="{5ECC79D8-601B-40AA-8866-6A03C16ACEA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966150" y="1610731"/>
          <a:ext cx="541075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785">
                  <a:extLst>
                    <a:ext uri="{9D8B030D-6E8A-4147-A177-3AD203B41FA5}">
                      <a16:colId xmlns="" xmlns:a16="http://schemas.microsoft.com/office/drawing/2014/main" val="4112375705"/>
                    </a:ext>
                  </a:extLst>
                </a:gridCol>
                <a:gridCol w="2041973">
                  <a:extLst>
                    <a:ext uri="{9D8B030D-6E8A-4147-A177-3AD203B41FA5}">
                      <a16:colId xmlns="" xmlns:a16="http://schemas.microsoft.com/office/drawing/2014/main" val="1620224522"/>
                    </a:ext>
                  </a:extLst>
                </a:gridCol>
              </a:tblGrid>
              <a:tr h="319721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เงินเดือน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38338442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อัตราเดิม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90912348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เงินประจำตำแหน่ง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35101886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 พ.ป.ผ.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76912569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 พ.ส.ร.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09519112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เงินค่าตอบแทนรายเดือนสำหรับข้าราชการ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0383588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เงินช่วยเหลือการครองชีพข้าราชการระดับต้น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70516397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เงินเพิ่มสำหรับตำแหน่งที่มีเหตุพิเศษตำแหน่งนิติกร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84914135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ค่าจ้างประจำ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84634214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อัตราเดิม (ค่าจ้างประจำ)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26631406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 พ.ส.ร. (ค่าจ้างประจำ)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89287878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 พ.ป.ผ.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0003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897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42141" y="1815875"/>
            <a:ext cx="17556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ค่าตอบแทนพนักงานราชการ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="" xmlns:a16="http://schemas.microsoft.com/office/drawing/2014/main" id="{5ECC79D8-601B-40AA-8866-6A03C16ACEA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82253" y="2284356"/>
          <a:ext cx="541075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785">
                  <a:extLst>
                    <a:ext uri="{9D8B030D-6E8A-4147-A177-3AD203B41FA5}">
                      <a16:colId xmlns="" xmlns:a16="http://schemas.microsoft.com/office/drawing/2014/main" val="4112375705"/>
                    </a:ext>
                  </a:extLst>
                </a:gridCol>
                <a:gridCol w="2041973">
                  <a:extLst>
                    <a:ext uri="{9D8B030D-6E8A-4147-A177-3AD203B41FA5}">
                      <a16:colId xmlns="" xmlns:a16="http://schemas.microsoft.com/office/drawing/2014/main" val="1620224522"/>
                    </a:ext>
                  </a:extLst>
                </a:gridCol>
              </a:tblGrid>
              <a:tr h="241897"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ค่าตอบแทนพนักงานราชการ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38338442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 ค่าตอบแทนพนักงานราชการ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90912348"/>
                  </a:ext>
                </a:extLst>
              </a:tr>
              <a:tr h="319721">
                <a:tc>
                  <a:txBody>
                    <a:bodyPr/>
                    <a:lstStyle/>
                    <a:p>
                      <a:r>
                        <a:rPr lang="th-TH" dirty="0"/>
                        <a:t>เงินช่วยเหลือการครองชีพพนักงานราชการ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35101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63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3187" y="3794306"/>
            <a:ext cx="31400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ค่าเช่าบ้าน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12246" y="413286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012246" y="413443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23125"/>
              </p:ext>
            </p:extLst>
          </p:nvPr>
        </p:nvGraphicFramePr>
        <p:xfrm>
          <a:off x="2012246" y="4630101"/>
          <a:ext cx="7658099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3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896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250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2501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250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1762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0237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>
                          <a:effectLst/>
                        </a:rPr>
                        <a:t>ชื่อ-สกุล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ตำแหน่ง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ระดับ</a:t>
                      </a: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อัตราเงินเดือน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อัตราค่าเช่า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ต่อปี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 key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input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/</a:t>
                      </a:r>
                      <a:r>
                        <a:rPr lang="th-TH" sz="1600" u="none" strike="noStrike" dirty="0">
                          <a:effectLst/>
                        </a:rPr>
                        <a:t>เดือน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*12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b="1" u="none" strike="noStrike" dirty="0">
                          <a:effectLst/>
                        </a:rPr>
                        <a:t>รวมทั้งสิ้น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คือรวมยอดทั้งปี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3" name="Minus 62"/>
          <p:cNvSpPr/>
          <p:nvPr/>
        </p:nvSpPr>
        <p:spPr>
          <a:xfrm>
            <a:off x="9822419" y="523813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inus 63"/>
          <p:cNvSpPr/>
          <p:nvPr/>
        </p:nvSpPr>
        <p:spPr>
          <a:xfrm>
            <a:off x="9822418" y="556371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655807" y="632181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84481" y="632181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0" y="3455752"/>
            <a:ext cx="2507218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กำหนดช่วงอัตรา งด. </a:t>
            </a:r>
            <a:r>
              <a:rPr lang="th-TH" dirty="0"/>
              <a:t>ได้รับค่าเช่าบ้านเท่าไหร่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686540" y="3990886"/>
            <a:ext cx="637064" cy="81185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8349241" y="4033615"/>
            <a:ext cx="188008" cy="129896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3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0168" y="3754838"/>
            <a:ext cx="41713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ค่าตอบแทนพิเศษรายเดือนสำหรับผู้ปฏิบัติงานในเขตพื้นที่พิเศษ (ส.ป.พ.</a:t>
            </a:r>
            <a:r>
              <a:rPr lang="th-TH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sz="1600" b="1" u="sn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12246" y="413286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012246" y="413443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8491535" y="4969987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inus 63"/>
          <p:cNvSpPr/>
          <p:nvPr/>
        </p:nvSpPr>
        <p:spPr>
          <a:xfrm>
            <a:off x="8491534" y="534918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018209" y="615665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39094" y="615665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098251"/>
              </p:ext>
            </p:extLst>
          </p:nvPr>
        </p:nvGraphicFramePr>
        <p:xfrm>
          <a:off x="2012246" y="4678238"/>
          <a:ext cx="6388101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2324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385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62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552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549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ชื่อ-สกุล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ประเภทบุคลากร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ระดับ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ต่อเดือน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ต่อปี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</a:t>
                      </a:r>
                      <a:r>
                        <a:rPr lang="en-US" sz="1600" u="none" strike="noStrike" baseline="0" dirty="0">
                          <a:effectLst/>
                        </a:rPr>
                        <a:t> key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 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input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*12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b="1" u="none" strike="noStrike" dirty="0">
                          <a:effectLst/>
                        </a:rPr>
                        <a:t>รวมทั้งสิ้น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02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8822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เงินสมทบกองทุนประกันสังคม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12246" y="413286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012246" y="413443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9839459" y="510610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inus 63"/>
          <p:cNvSpPr/>
          <p:nvPr/>
        </p:nvSpPr>
        <p:spPr>
          <a:xfrm>
            <a:off x="9839459" y="542451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836017" y="631360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24521" y="631360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68477"/>
              </p:ext>
            </p:extLst>
          </p:nvPr>
        </p:nvGraphicFramePr>
        <p:xfrm>
          <a:off x="2012246" y="4545110"/>
          <a:ext cx="76581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4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169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042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0421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12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21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ชื่อ-สกุล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ตำแหน่ง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อัตราเงินเดือน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อัตรา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ต่อปี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DDL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Monthly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*12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b="1" u="none" strike="noStrike">
                          <a:effectLst/>
                        </a:rPr>
                        <a:t>รวมทั้งสิ้น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EACE765-EAFF-4598-9110-CCEA0B9518A7}"/>
              </a:ext>
            </a:extLst>
          </p:cNvPr>
          <p:cNvSpPr txBox="1"/>
          <p:nvPr/>
        </p:nvSpPr>
        <p:spPr>
          <a:xfrm>
            <a:off x="7943499" y="3428999"/>
            <a:ext cx="2614175" cy="92333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Cal </a:t>
            </a:r>
            <a:r>
              <a:rPr lang="en-US" b="1" dirty="0">
                <a:solidFill>
                  <a:srgbClr val="FF0000"/>
                </a:solidFill>
              </a:rPr>
              <a:t>5% of salary, Setup Percent Rate, </a:t>
            </a:r>
            <a:r>
              <a:rPr lang="th-TH" b="1" dirty="0">
                <a:solidFill>
                  <a:srgbClr val="FF0000"/>
                </a:solidFill>
              </a:rPr>
              <a:t>ไม่เกิน </a:t>
            </a:r>
            <a:r>
              <a:rPr lang="en-US" b="1" dirty="0">
                <a:solidFill>
                  <a:srgbClr val="FF0000"/>
                </a:solidFill>
              </a:rPr>
              <a:t>750 per month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EA5CAB72-29C1-4A5D-98B9-1B3342B334FB}"/>
              </a:ext>
            </a:extLst>
          </p:cNvPr>
          <p:cNvCxnSpPr/>
          <p:nvPr/>
        </p:nvCxnSpPr>
        <p:spPr>
          <a:xfrm flipH="1">
            <a:off x="7483494" y="3910042"/>
            <a:ext cx="1168961" cy="126220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98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7796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เงินสมทบกองทุนเงินทดแทน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12246" y="413286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012246" y="413443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9755812" y="5250234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inus 63"/>
          <p:cNvSpPr/>
          <p:nvPr/>
        </p:nvSpPr>
        <p:spPr>
          <a:xfrm>
            <a:off x="9760038" y="559072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836017" y="631360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24521" y="631360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810147"/>
              </p:ext>
            </p:extLst>
          </p:nvPr>
        </p:nvGraphicFramePr>
        <p:xfrm>
          <a:off x="2012246" y="4635945"/>
          <a:ext cx="76581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4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169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042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0421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712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21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ชื่อ-สกุล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ตำแหน่ง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>
                          <a:effectLst/>
                        </a:rPr>
                        <a:t>อัตราเงินเดือน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อัตรา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u="none" strike="noStrike" dirty="0">
                          <a:effectLst/>
                        </a:rPr>
                        <a:t>ต่อปี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DDL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Monthly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*12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b="1" u="none" strike="noStrike">
                          <a:effectLst/>
                        </a:rPr>
                        <a:t>รวมทั้งสิ้น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081A816-91C1-4792-AE4E-B3DB84812251}"/>
              </a:ext>
            </a:extLst>
          </p:cNvPr>
          <p:cNvSpPr txBox="1"/>
          <p:nvPr/>
        </p:nvSpPr>
        <p:spPr>
          <a:xfrm>
            <a:off x="7943499" y="3428999"/>
            <a:ext cx="2614175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Cal </a:t>
            </a:r>
            <a:r>
              <a:rPr lang="en-US" b="1" dirty="0">
                <a:solidFill>
                  <a:srgbClr val="FF0000"/>
                </a:solidFill>
              </a:rPr>
              <a:t>5% of salary, Setup Percent rate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FBB5411D-6D06-4A33-A86E-BD2D61E7C8FA}"/>
              </a:ext>
            </a:extLst>
          </p:cNvPr>
          <p:cNvCxnSpPr/>
          <p:nvPr/>
        </p:nvCxnSpPr>
        <p:spPr>
          <a:xfrm flipH="1">
            <a:off x="7483494" y="3910042"/>
            <a:ext cx="1168961" cy="1262208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50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29558" y="3948147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2" name="Rectangle 1"/>
          <p:cNvSpPr/>
          <p:nvPr/>
        </p:nvSpPr>
        <p:spPr>
          <a:xfrm>
            <a:off x="3766674" y="3230432"/>
            <a:ext cx="3704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   </a:t>
            </a:r>
            <a:r>
              <a:rPr lang="th-TH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ค่าตรวจปฏิบัติการโรงงานอุตสาหกรรรม</a:t>
            </a:r>
            <a:endParaRPr lang="en-US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ยานพาหนะ</a:t>
            </a:r>
            <a:r>
              <a:rPr lang="th-TH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รอข้อมูลจากพี่บอล </a:t>
            </a:r>
            <a:endParaRPr lang="en-US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3" name="Plus 12"/>
          <p:cNvSpPr/>
          <p:nvPr/>
        </p:nvSpPr>
        <p:spPr>
          <a:xfrm>
            <a:off x="1526147" y="3949726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76733" y="586907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41" name="Minus 40"/>
          <p:cNvSpPr/>
          <p:nvPr/>
        </p:nvSpPr>
        <p:spPr>
          <a:xfrm>
            <a:off x="10054528" y="5144097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970618"/>
              </p:ext>
            </p:extLst>
          </p:nvPr>
        </p:nvGraphicFramePr>
        <p:xfrm>
          <a:off x="1456573" y="4368890"/>
          <a:ext cx="8506460" cy="158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7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908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00109">
                  <a:extLst>
                    <a:ext uri="{9D8B030D-6E8A-4147-A177-3AD203B41FA5}">
                      <a16:colId xmlns:a16="http://schemas.microsoft.com/office/drawing/2014/main" xmlns="" val="1804151387"/>
                    </a:ext>
                  </a:extLst>
                </a:gridCol>
                <a:gridCol w="15483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8100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962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131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6599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ชื่อ นามสกุล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u="none" strike="noStrike" dirty="0">
                          <a:effectLst/>
                        </a:rPr>
                        <a:t>ตำแหน่ง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 fontAlgn="ctr"/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ประเภทบุคลากร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ค่าตอบแทน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จำนวน</a:t>
                      </a:r>
                      <a:r>
                        <a:rPr lang="th-TH" sz="16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 (วัน)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ยานพาหนะราชการ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อัตรา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จำนวน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input</a:t>
                      </a:r>
                      <a:r>
                        <a:rPr lang="en-US" sz="1600" u="none" strike="noStrike" baseline="0" dirty="0">
                          <a:effectLst/>
                        </a:rPr>
                        <a:t> days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ดึงจาก</a:t>
                      </a:r>
                      <a:r>
                        <a:rPr lang="th-TH" sz="1600" u="none" strike="noStrike" baseline="0" dirty="0">
                          <a:effectLst/>
                        </a:rPr>
                        <a:t>  </a:t>
                      </a:r>
                      <a:r>
                        <a:rPr lang="en-US" sz="1600" u="none" strike="noStrike" baseline="0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Vehicle</a:t>
                      </a:r>
                      <a:r>
                        <a:rPr lang="en-US" sz="16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 * Rate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544615" y="586907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B78B2CE-CD12-47FF-882B-A8BA151B0C7B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72A5BCFF-12C8-4834-AE39-93A54751C911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8508498" y="4027364"/>
            <a:ext cx="538248" cy="115610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32AFBA78-7E73-4BB4-9613-C1CDD8E72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829" y="1785614"/>
            <a:ext cx="4666226" cy="17456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4F10BEF6-B60A-40F6-B9A2-3FA0728156AE}"/>
              </a:ext>
            </a:extLst>
          </p:cNvPr>
          <p:cNvSpPr txBox="1"/>
          <p:nvPr/>
        </p:nvSpPr>
        <p:spPr>
          <a:xfrm>
            <a:off x="9046746" y="3704198"/>
            <a:ext cx="2614175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Setup </a:t>
            </a:r>
            <a:r>
              <a:rPr lang="en-US" b="1" dirty="0" err="1">
                <a:solidFill>
                  <a:srgbClr val="FF0000"/>
                </a:solidFill>
              </a:rPr>
              <a:t>อัตราค่าตอบแทนของแต่ละประเภทยานพาหนะ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61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2" name="Rectangle 1"/>
          <p:cNvSpPr/>
          <p:nvPr/>
        </p:nvSpPr>
        <p:spPr>
          <a:xfrm>
            <a:off x="4625274" y="3314505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ค่าตอบแทนบุคคลหรือคณะกรรมการ</a:t>
            </a:r>
            <a:endParaRPr lang="en-US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53060" y="587871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95479" y="4345390"/>
          <a:ext cx="5009873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2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2509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54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คณะกรรมการ/ผู้ควบคุมงาน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จำนวน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u="none" strike="noStrike">
                          <a:effectLst/>
                        </a:rPr>
                        <a:t>รวมทั้งสิ้น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0" name="Minus 19"/>
          <p:cNvSpPr/>
          <p:nvPr/>
        </p:nvSpPr>
        <p:spPr>
          <a:xfrm>
            <a:off x="7570631" y="4656518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585283" y="58886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77DAA90-D64C-4276-A407-E94239B7FC73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912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2" name="Rectangle 1"/>
          <p:cNvSpPr/>
          <p:nvPr/>
        </p:nvSpPr>
        <p:spPr>
          <a:xfrm>
            <a:off x="4979437" y="2750649"/>
            <a:ext cx="2460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ค่าตอบแทนบุคคลหรือคณะกรรมการ</a:t>
            </a:r>
            <a:endParaRPr lang="en-US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772697"/>
              </p:ext>
            </p:extLst>
          </p:nvPr>
        </p:nvGraphicFramePr>
        <p:xfrm>
          <a:off x="3470856" y="3282617"/>
          <a:ext cx="4844053" cy="28126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04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060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9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152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20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0435">
                <a:tc>
                  <a:txBody>
                    <a:bodyPr/>
                    <a:lstStyle/>
                    <a:p>
                      <a:pPr algn="l" fontAlgn="t"/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 จำนวน 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 วัน 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 อัตรา 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 จำนวน (บาท) 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5309"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ประธาน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2124"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คณะกรรมการ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4963"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u="none" strike="noStrike">
                          <a:effectLst/>
                        </a:rPr>
                        <a:t>รวมทั้งสิ้น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4963"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ผู้ควบคุมงาน..........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4963"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หัวหน้า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4963"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ผู้ควบคุมงาน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4963"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u="none" strike="noStrike">
                          <a:effectLst/>
                        </a:rPr>
                        <a:t>รวมทั้งสิ้น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902164" y="626210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47138" y="626210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1B9706A-B23F-4930-9982-8452F0A0AF5C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3843" y="2973936"/>
            <a:ext cx="2444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ปุ่มเพิ่ม </a:t>
            </a:r>
            <a:r>
              <a:rPr lang="en-US" dirty="0"/>
              <a:t>“Committee”</a:t>
            </a:r>
            <a:endParaRPr lang="th-TH" dirty="0"/>
          </a:p>
          <a:p>
            <a:r>
              <a:rPr lang="th-TH" dirty="0"/>
              <a:t>ปุ่มเพิ่ม </a:t>
            </a:r>
            <a:r>
              <a:rPr lang="en-US" dirty="0"/>
              <a:t>“QA”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427006" y="3119981"/>
            <a:ext cx="965674" cy="64871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26158" y="3119981"/>
            <a:ext cx="5781109" cy="161704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26158" y="4794130"/>
            <a:ext cx="5781109" cy="141086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490874" y="3534178"/>
            <a:ext cx="1631610" cy="168730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496" y="1850921"/>
            <a:ext cx="3296542" cy="46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98890" y="379360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395479" y="379517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906851" y="595190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49173" y="3314505"/>
            <a:ext cx="2042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ค่าตอบแทนข้าราชการเกษียณ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2440" y="595190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50782"/>
              </p:ext>
            </p:extLst>
          </p:nvPr>
        </p:nvGraphicFramePr>
        <p:xfrm>
          <a:off x="2395479" y="4352727"/>
          <a:ext cx="797146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02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287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2471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847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5294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ลำดับ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ชื่อ-สกุล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ตำแหน่ง (ก่อนเกษียณ)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อัตราต่อเดือน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จำนวน (บาท)</a:t>
                      </a:r>
                      <a:r>
                        <a:rPr lang="en-US" sz="1600" u="none" strike="noStrike" dirty="0">
                          <a:effectLst/>
                        </a:rPr>
                        <a:t> Yearly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Monthly * </a:t>
                      </a:r>
                      <a:r>
                        <a:rPr lang="en-US" sz="1600" u="none" strike="noStrike" dirty="0">
                          <a:effectLst/>
                        </a:rPr>
                        <a:t>12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t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พำ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 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u="none" strike="noStrike">
                          <a:effectLst/>
                        </a:rPr>
                        <a:t>รวมทั้งสิ้น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2" name="Minus 21"/>
          <p:cNvSpPr/>
          <p:nvPr/>
        </p:nvSpPr>
        <p:spPr>
          <a:xfrm>
            <a:off x="9290237" y="464364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CB544EF-D975-4D5B-B421-249416C0AE2E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6167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25474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ค่าตอบแทนการปฏิบัติงานนอกเวลาราชการ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38652" y="4274528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238652" y="4276107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11769987" y="5152067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inus 63"/>
          <p:cNvSpPr/>
          <p:nvPr/>
        </p:nvSpPr>
        <p:spPr>
          <a:xfrm>
            <a:off x="11769987" y="495066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89115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80083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382688"/>
              </p:ext>
            </p:extLst>
          </p:nvPr>
        </p:nvGraphicFramePr>
        <p:xfrm>
          <a:off x="1205060" y="4738891"/>
          <a:ext cx="10515602" cy="1159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6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50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42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42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0307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0307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7080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55839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928264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92826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18046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55839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8418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410512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ลำดับ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ชื่อ-สกุล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ตำแหน่ง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วันทำการปกติ (วัน)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>
                          <a:effectLst/>
                        </a:rPr>
                        <a:t>ชั่วโมง/วัน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อัตรา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จำนวน (บาท)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>
                          <a:effectLst/>
                        </a:rPr>
                        <a:t>วันหยุดราชการ (วัน)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>
                          <a:effectLst/>
                        </a:rPr>
                        <a:t>ชั่วโมง/วัน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อัตรา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 dirty="0">
                          <a:effectLst/>
                        </a:rPr>
                        <a:t>จำนวน (บาท)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b="1" u="none" strike="noStrike">
                          <a:effectLst/>
                        </a:rPr>
                        <a:t>รวมทั้งสิ้น (บาท)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9629"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b="1" u="none" strike="noStrike">
                          <a:effectLst/>
                        </a:rPr>
                        <a:t>1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Free Text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DDL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Days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r>
                        <a:rPr lang="en-US" sz="1300" b="1" u="none" strike="noStrike" dirty="0" err="1">
                          <a:effectLst/>
                        </a:rPr>
                        <a:t>Hr</a:t>
                      </a:r>
                      <a:r>
                        <a:rPr lang="en-US" sz="1300" b="1" u="none" strike="noStrike" dirty="0">
                          <a:effectLst/>
                        </a:rPr>
                        <a:t>/Day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b="1" u="none" strike="noStrike" dirty="0">
                          <a:effectLst/>
                        </a:rPr>
                        <a:t>50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Days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b="1" u="none" strike="noStrike">
                          <a:effectLst/>
                        </a:rPr>
                        <a:t>60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9629"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b="1" u="none" strike="noStrike">
                          <a:effectLst/>
                        </a:rPr>
                        <a:t>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9629"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300" b="1" u="none" strike="noStrike">
                          <a:effectLst/>
                        </a:rPr>
                        <a:t>รวมทั้งสิ้น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>
                          <a:effectLst/>
                        </a:rPr>
                        <a:t> 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b="1" u="none" strike="noStrike" dirty="0">
                          <a:effectLst/>
                        </a:rPr>
                        <a:t> 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801" marR="7801" marT="7801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3F69A7C-0A9B-4138-849A-918C0712AB57}"/>
              </a:ext>
            </a:extLst>
          </p:cNvPr>
          <p:cNvSpPr txBox="1"/>
          <p:nvPr/>
        </p:nvSpPr>
        <p:spPr>
          <a:xfrm>
            <a:off x="7831303" y="3477806"/>
            <a:ext cx="2614175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Setup, Working Rate, Holiday Rate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53CA0411-2A63-46AC-9258-68CE1AD63024}"/>
              </a:ext>
            </a:extLst>
          </p:cNvPr>
          <p:cNvCxnSpPr>
            <a:cxnSpLocks/>
          </p:cNvCxnSpPr>
          <p:nvPr/>
        </p:nvCxnSpPr>
        <p:spPr>
          <a:xfrm flipH="1">
            <a:off x="6703730" y="3910042"/>
            <a:ext cx="1948726" cy="112196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8A06980C-04AD-49BB-B1F8-21B7658BDF62}"/>
              </a:ext>
            </a:extLst>
          </p:cNvPr>
          <p:cNvCxnSpPr/>
          <p:nvPr/>
        </p:nvCxnSpPr>
        <p:spPr>
          <a:xfrm>
            <a:off x="8652455" y="3905104"/>
            <a:ext cx="1069356" cy="104555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E8B6974B-85A1-44C5-9D53-B99F4F8281B6}"/>
              </a:ext>
            </a:extLst>
          </p:cNvPr>
          <p:cNvSpPr txBox="1"/>
          <p:nvPr/>
        </p:nvSpPr>
        <p:spPr>
          <a:xfrm>
            <a:off x="4100775" y="3297749"/>
            <a:ext cx="965915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Per Hours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5104A182-DF42-44C7-8CCC-98C270AA8904}"/>
              </a:ext>
            </a:extLst>
          </p:cNvPr>
          <p:cNvCxnSpPr/>
          <p:nvPr/>
        </p:nvCxnSpPr>
        <p:spPr>
          <a:xfrm>
            <a:off x="4984124" y="3878435"/>
            <a:ext cx="1495959" cy="147503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113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76991" y="3992309"/>
            <a:ext cx="31518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ค่าตอบแทนแหมาจ่ายแทนการจัดหารถประจำตำแหน่ง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38652" y="4274528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238652" y="4276107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89115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80083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110411"/>
              </p:ext>
            </p:extLst>
          </p:nvPr>
        </p:nvGraphicFramePr>
        <p:xfrm>
          <a:off x="2091030" y="4926669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641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ชื่อ</a:t>
                      </a:r>
                      <a:r>
                        <a:rPr lang="th-TH" baseline="0" dirty="0"/>
                        <a:t> สกุล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ตำแหน่ง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อัตราต่อเดือน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dirty="0"/>
                        <a:t>จำนวน</a:t>
                      </a:r>
                      <a:r>
                        <a:rPr lang="th-TH" baseline="0" dirty="0"/>
                        <a:t> (บาท)</a:t>
                      </a:r>
                      <a:r>
                        <a:rPr lang="en-US" baseline="0" dirty="0"/>
                        <a:t> Per Year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262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22236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ค่าเบี้ยเลี้ยง ค่าเช่าที่พัก และค่าพาหนะ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38652" y="4274528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238652" y="4276107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11858700" y="52955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89115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80083" y="603918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596007"/>
              </p:ext>
            </p:extLst>
          </p:nvPr>
        </p:nvGraphicFramePr>
        <p:xfrm>
          <a:off x="1254386" y="4715294"/>
          <a:ext cx="10515600" cy="1409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45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656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38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660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0711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9502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85709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84404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79587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597936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75688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4243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 dirty="0">
                          <a:effectLst/>
                        </a:rPr>
                        <a:t>ลำดับ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>
                          <a:effectLst/>
                        </a:rPr>
                        <a:t>รายการ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 dirty="0">
                          <a:effectLst/>
                        </a:rPr>
                        <a:t>ระดับ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>
                          <a:effectLst/>
                        </a:rPr>
                        <a:t>ครั้ง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>
                          <a:effectLst/>
                        </a:rPr>
                        <a:t>ค่าเบี้ยเลี้ยง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>
                          <a:effectLst/>
                        </a:rPr>
                        <a:t>ค่าเช่าที่พัก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 dirty="0">
                          <a:effectLst/>
                        </a:rPr>
                        <a:t>ค่าพาหนะและค่าน้ำมัน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รวมทั้งสิ้น</a:t>
                      </a:r>
                      <a:br>
                        <a:rPr lang="th-TH" sz="1300" u="none" strike="noStrike" dirty="0">
                          <a:effectLst/>
                        </a:rPr>
                      </a:br>
                      <a:r>
                        <a:rPr lang="th-TH" sz="1300" u="none" strike="noStrike" dirty="0">
                          <a:effectLst/>
                        </a:rPr>
                        <a:t>(บาท)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>
                          <a:effectLst/>
                        </a:rPr>
                        <a:t>คน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>
                          <a:effectLst/>
                        </a:rPr>
                        <a:t>วัน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อัตรา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จำนวน (บาท)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300" u="none" strike="noStrike">
                          <a:effectLst/>
                        </a:rPr>
                        <a:t>คน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>
                          <a:effectLst/>
                        </a:rPr>
                        <a:t>คืน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>
                          <a:effectLst/>
                        </a:rPr>
                        <a:t>อัตรา</a:t>
                      </a:r>
                      <a:endParaRPr lang="th-TH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จำนวน (บาท)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42435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300" u="none" strike="noStrike">
                          <a:effectLst/>
                        </a:rPr>
                        <a:t>1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th-TH" sz="1300" u="none" strike="noStrike" dirty="0">
                          <a:effectLst/>
                        </a:rPr>
                        <a:t>ไปราชการ....................................</a:t>
                      </a:r>
                      <a:endParaRPr lang="en-US" sz="1300" u="none" strike="noStrike" dirty="0">
                        <a:effectLst/>
                      </a:endParaRPr>
                    </a:p>
                    <a:p>
                      <a:pPr algn="l" fontAlgn="t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Free text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สูงกว่าชำนาญการพิเศษ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X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A1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A2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u="none" strike="noStrike">
                          <a:effectLst/>
                        </a:rPr>
                        <a:t>270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A (X*A1*A2)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u="none" strike="noStrike" dirty="0">
                          <a:effectLst/>
                        </a:rPr>
                        <a:t>1200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B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input 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A+B+C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2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300" u="none" strike="noStrike" dirty="0">
                          <a:effectLst/>
                        </a:rPr>
                        <a:t>ชำนาญการพิเศษลงมา/ลูกจ้างประจำ/พนักงานราชการ</a:t>
                      </a:r>
                      <a:endParaRPr lang="th-TH" sz="13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u="none" strike="noStrike">
                          <a:effectLst/>
                        </a:rPr>
                        <a:t>240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300" u="none" strike="noStrike">
                          <a:effectLst/>
                        </a:rPr>
                        <a:t>800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>
                          <a:effectLst/>
                        </a:rPr>
                        <a:t> 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300" u="none" strike="noStrike" dirty="0">
                          <a:effectLst/>
                        </a:rPr>
                        <a:t> 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7576" marR="7576" marT="7576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58356D6-6BC6-41F5-AA17-3CD25E43B6CA}"/>
              </a:ext>
            </a:extLst>
          </p:cNvPr>
          <p:cNvSpPr txBox="1"/>
          <p:nvPr/>
        </p:nvSpPr>
        <p:spPr>
          <a:xfrm>
            <a:off x="7831763" y="3384313"/>
            <a:ext cx="3121585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Setup: refer. Personnel level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65D6AB5C-AEDB-424F-A0BD-D639ACCA7C6B}"/>
              </a:ext>
            </a:extLst>
          </p:cNvPr>
          <p:cNvCxnSpPr/>
          <p:nvPr/>
        </p:nvCxnSpPr>
        <p:spPr>
          <a:xfrm flipH="1">
            <a:off x="7169345" y="3910042"/>
            <a:ext cx="605860" cy="120709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7F9002F0-5A28-4C1B-A94E-0446BE38523C}"/>
              </a:ext>
            </a:extLst>
          </p:cNvPr>
          <p:cNvCxnSpPr/>
          <p:nvPr/>
        </p:nvCxnSpPr>
        <p:spPr>
          <a:xfrm>
            <a:off x="7792034" y="3992309"/>
            <a:ext cx="1600997" cy="1000427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B1EB1DC-E41A-4F8F-9C94-AF0CE5ABD4BB}"/>
              </a:ext>
            </a:extLst>
          </p:cNvPr>
          <p:cNvCxnSpPr>
            <a:stCxn id="2" idx="1"/>
          </p:cNvCxnSpPr>
          <p:nvPr/>
        </p:nvCxnSpPr>
        <p:spPr>
          <a:xfrm flipH="1">
            <a:off x="4360238" y="3707479"/>
            <a:ext cx="3471525" cy="13208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17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20537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ค่าซ่อมแซมยานพาหนะและขนส่ง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09974" y="422971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609974" y="423128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80338" y="631305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59924" y="6332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526725" y="5170002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015021"/>
              </p:ext>
            </p:extLst>
          </p:nvPr>
        </p:nvGraphicFramePr>
        <p:xfrm>
          <a:off x="2601353" y="4616075"/>
          <a:ext cx="8826500" cy="141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2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838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975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302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5792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5486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ประเภทยานพาหนะ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ทะเบียนยานพาหนะราชการ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วัน/เดือน/ปี จดทะเบียน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อายุการใช้งาน(ปี/เดือน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จำนวนเงิน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รถยนต์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Calendar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Cal Current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key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6FFC110-936E-41C3-90D2-B6195C88C103}"/>
              </a:ext>
            </a:extLst>
          </p:cNvPr>
          <p:cNvSpPr txBox="1"/>
          <p:nvPr/>
        </p:nvSpPr>
        <p:spPr>
          <a:xfrm>
            <a:off x="4984124" y="2811968"/>
            <a:ext cx="1854242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ดึงจาก</a:t>
            </a:r>
            <a:r>
              <a:rPr lang="en-US" b="1" dirty="0">
                <a:solidFill>
                  <a:srgbClr val="FF0000"/>
                </a:solidFill>
              </a:rPr>
              <a:t> Vehicle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B8985035-32FC-4EA2-A0DE-DFB8D17BA1FA}"/>
              </a:ext>
            </a:extLst>
          </p:cNvPr>
          <p:cNvCxnSpPr/>
          <p:nvPr/>
        </p:nvCxnSpPr>
        <p:spPr>
          <a:xfrm flipH="1">
            <a:off x="3893212" y="3150522"/>
            <a:ext cx="1425763" cy="2076937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FBA6D64-F5B4-42DC-A941-061B46CB9C1E}"/>
              </a:ext>
            </a:extLst>
          </p:cNvPr>
          <p:cNvSpPr txBox="1"/>
          <p:nvPr/>
        </p:nvSpPr>
        <p:spPr>
          <a:xfrm>
            <a:off x="7760368" y="3483188"/>
            <a:ext cx="2754420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Add </a:t>
            </a:r>
            <a:r>
              <a:rPr lang="en-US" b="1" dirty="0" err="1">
                <a:solidFill>
                  <a:srgbClr val="FF0000"/>
                </a:solidFill>
              </a:rPr>
              <a:t>btn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เพิ่มส่วนย่อยของ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ประเภทยานพาหนะ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26847B0C-B041-49EC-90DA-C1EED99C3188}"/>
              </a:ext>
            </a:extLst>
          </p:cNvPr>
          <p:cNvCxnSpPr/>
          <p:nvPr/>
        </p:nvCxnSpPr>
        <p:spPr>
          <a:xfrm flipH="1">
            <a:off x="4111995" y="3707479"/>
            <a:ext cx="3663210" cy="170049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692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3131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ค่าซ่อมแซมครุภัณฑ์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71179" y="4282805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252723" y="4282805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80338" y="631305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759924" y="6332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0880634" y="5054092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46096"/>
              </p:ext>
            </p:extLst>
          </p:nvPr>
        </p:nvGraphicFramePr>
        <p:xfrm>
          <a:off x="2254145" y="4725474"/>
          <a:ext cx="8496299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26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837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802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6752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1334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214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จำนวนทั้งหมดที่มีอยู่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จำนวนที่ขอซ่อม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ราคาซ่อมโดยเฉลี่ย/เครื่อง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free text</a:t>
                      </a:r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free key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free key 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free key 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A+B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06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4414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ค่าซ่อมแซมสิ่งก่อสร้าง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71179" y="4282805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252723" y="4282805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018209" y="617138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189115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8186735" y="5028334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469700"/>
              </p:ext>
            </p:extLst>
          </p:nvPr>
        </p:nvGraphicFramePr>
        <p:xfrm>
          <a:off x="2299865" y="4738352"/>
          <a:ext cx="57785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998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930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Free key</a:t>
                      </a:r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1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0230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ค่าเช่าทรัพย์สิน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271179" y="4282805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252723" y="4282805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696081" y="643091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64181" y="6454496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9283587" y="5321471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98636"/>
              </p:ext>
            </p:extLst>
          </p:nvPr>
        </p:nvGraphicFramePr>
        <p:xfrm>
          <a:off x="2252723" y="4735899"/>
          <a:ext cx="68834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4986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77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77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882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048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ต่อเดือน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ต่อปี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Free Key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x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12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text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194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176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ค่าจ้างเหมาบริการ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427853" y="482461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3858"/>
              </p:ext>
            </p:extLst>
          </p:nvPr>
        </p:nvGraphicFramePr>
        <p:xfrm>
          <a:off x="2232471" y="4692645"/>
          <a:ext cx="8970003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83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1275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503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023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2291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8877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(คน)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อัตรา/คน/เดือน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ต่อเดือน (บาท)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ต่อปี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หมายเหตุ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ค่าจ้างเหมาบริการทำความสะอาด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key 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key B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A*B</a:t>
                      </a: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x 12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ตามที่กรมฯ อนุมัติแล้ว</a:t>
                      </a:r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ค่าจ้างเหมาบริการรักษาความปลอดภัย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10ED1B4-59F7-46D5-AF8B-FADF2E81EA4D}"/>
              </a:ext>
            </a:extLst>
          </p:cNvPr>
          <p:cNvSpPr txBox="1"/>
          <p:nvPr/>
        </p:nvSpPr>
        <p:spPr>
          <a:xfrm>
            <a:off x="7096417" y="3023691"/>
            <a:ext cx="2098071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Fixed </a:t>
            </a:r>
            <a:r>
              <a:rPr lang="en-US" b="1" dirty="0" err="1">
                <a:solidFill>
                  <a:srgbClr val="FF0000"/>
                </a:solidFill>
              </a:rPr>
              <a:t>สอง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รายการนี้เท่านั้น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9D4E1F2E-8EF6-4F9D-889A-79AB22A5D89D}"/>
              </a:ext>
            </a:extLst>
          </p:cNvPr>
          <p:cNvCxnSpPr/>
          <p:nvPr/>
        </p:nvCxnSpPr>
        <p:spPr>
          <a:xfrm flipH="1">
            <a:off x="4841271" y="3493657"/>
            <a:ext cx="2215877" cy="12107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84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4124" y="3952784"/>
            <a:ext cx="17203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ค่ากำจัดปลวก (เหมาบริการ</a:t>
            </a:r>
            <a:r>
              <a:rPr lang="th-TH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  <a:endParaRPr lang="en-US" sz="1600" b="1" u="sn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9769368" y="542144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261687"/>
              </p:ext>
            </p:extLst>
          </p:nvPr>
        </p:nvGraphicFramePr>
        <p:xfrm>
          <a:off x="2609974" y="5219367"/>
          <a:ext cx="7035801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2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35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942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688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หมายเหตุ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ค่ากำจัดปลวก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054ABCBF-FFDD-45D8-A27A-BF2919F43B84}"/>
              </a:ext>
            </a:extLst>
          </p:cNvPr>
          <p:cNvSpPr txBox="1"/>
          <p:nvPr/>
        </p:nvSpPr>
        <p:spPr>
          <a:xfrm>
            <a:off x="6765437" y="3730313"/>
            <a:ext cx="2098071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Fixed </a:t>
            </a:r>
            <a:r>
              <a:rPr lang="en-US" b="1" dirty="0" err="1">
                <a:solidFill>
                  <a:srgbClr val="FF0000"/>
                </a:solidFill>
              </a:rPr>
              <a:t>สอง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รายการนี้เท่านั้น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EF1B8411-305B-42B3-9F66-1C2A16BB9CC4}"/>
              </a:ext>
            </a:extLst>
          </p:cNvPr>
          <p:cNvCxnSpPr/>
          <p:nvPr/>
        </p:nvCxnSpPr>
        <p:spPr>
          <a:xfrm flipH="1">
            <a:off x="4510291" y="4200279"/>
            <a:ext cx="2215877" cy="12107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831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15263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ค่าจ้างเหมาบริการ (</a:t>
            </a:r>
            <a:r>
              <a:rPr lang="en-US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</a:t>
            </a:r>
            <a:r>
              <a:rPr lang="en-US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9202" y="4321442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080746" y="4321442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427853" y="507553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186082"/>
              </p:ext>
            </p:extLst>
          </p:nvPr>
        </p:nvGraphicFramePr>
        <p:xfrm>
          <a:off x="1065234" y="4791170"/>
          <a:ext cx="10172699" cy="1411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53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67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36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01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014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8811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88110">
                  <a:extLst>
                    <a:ext uri="{9D8B030D-6E8A-4147-A177-3AD203B41FA5}">
                      <a16:colId xmlns:a16="http://schemas.microsoft.com/office/drawing/2014/main" xmlns="" val="2802695957"/>
                    </a:ext>
                  </a:extLst>
                </a:gridCol>
                <a:gridCol w="91809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เลขที่สัญญา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วันที่ของสัญญา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วันสิ้นสุดระยะประกัน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วงเงินตามสัญญา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u="none" strike="noStrike" dirty="0">
                          <a:effectLst/>
                        </a:rPr>
                        <a:t>ปีที่บำรุงรักษา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 fontAlgn="t"/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Calendar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Calendar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key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Free key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input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405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4124" y="3952784"/>
            <a:ext cx="22878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ค่าจ้างพิมพ์แก้ไขแสตมป์ (ค่าจ้างเหมา)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8867847" y="542144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920959"/>
              </p:ext>
            </p:extLst>
          </p:nvPr>
        </p:nvGraphicFramePr>
        <p:xfrm>
          <a:off x="2886655" y="5173550"/>
          <a:ext cx="57658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27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939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ลำดับ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>
                          <a:effectLst/>
                        </a:rPr>
                        <a:t>ค่าจ้างพิมพ์แก้ไขแสตมป์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88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28430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625019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655851" y="6012451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21519" y="4540608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978753" y="6012451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47612" y="3376422"/>
            <a:ext cx="1624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ค่าจ้างเหมาบริการอื่นๆ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625019" y="4269503"/>
          <a:ext cx="57658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27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939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ลำดับ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0971789-0D7E-444F-970C-EA925C7D1A43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5201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2325" y="3794306"/>
            <a:ext cx="21389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ค่าใช้จ่ายในการสัมมนาและฝึกอบ</a:t>
            </a:r>
            <a:r>
              <a:rPr lang="th-TH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รม</a:t>
            </a:r>
            <a:endParaRPr lang="en-US" sz="1600" b="1" u="sn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609974" y="422971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609974" y="4231289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inus 62"/>
          <p:cNvSpPr/>
          <p:nvPr/>
        </p:nvSpPr>
        <p:spPr>
          <a:xfrm>
            <a:off x="7847658" y="492207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353060" y="599354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37407" y="599354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629098"/>
              </p:ext>
            </p:extLst>
          </p:nvPr>
        </p:nvGraphicFramePr>
        <p:xfrm>
          <a:off x="2678805" y="4684120"/>
          <a:ext cx="4941041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93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761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754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โครงการ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u="none" strike="noStrike" dirty="0">
                          <a:effectLst/>
                        </a:rPr>
                        <a:t>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th-TH" sz="1600" b="1" u="none" strike="noStrike">
                          <a:effectLst/>
                        </a:rPr>
                        <a:t>รวมทั้งสิ้น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8" name="Minus 27"/>
          <p:cNvSpPr/>
          <p:nvPr/>
        </p:nvSpPr>
        <p:spPr>
          <a:xfrm>
            <a:off x="7847658" y="5324890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85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092811"/>
              </p:ext>
            </p:extLst>
          </p:nvPr>
        </p:nvGraphicFramePr>
        <p:xfrm>
          <a:off x="657896" y="1841680"/>
          <a:ext cx="10515599" cy="2833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28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10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242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7790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9531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0317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3683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7221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4272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754765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4297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84247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1509529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2685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gridSpan="13">
                  <a:txBody>
                    <a:bodyPr/>
                    <a:lstStyle/>
                    <a:p>
                      <a:pPr algn="ctr" rtl="0" fontAlgn="ctr"/>
                      <a:r>
                        <a:rPr lang="th-TH" sz="1000" b="1" u="none" strike="noStrike" dirty="0">
                          <a:effectLst/>
                        </a:rPr>
                        <a:t>รายละเอียด</a:t>
                      </a:r>
                      <a:endParaRPr lang="th-TH" sz="10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89023"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งบรายจ่าย/โครงการ/หลักสูตร/รายการ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>
                          <a:effectLst/>
                        </a:rPr>
                        <a:t>ครั้ง/รุ่น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จำนวนผู้เข้ารับการฝึกอบรม (คน)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ระบุจำนวน/หน่วยนับ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อัตราค่าใช้จ่ายที่ตั้ง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รวมเงิน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สถานที่ดำเนินการ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คำชี้แจง (เหตุผลความจำเป็น</a:t>
                      </a:r>
                      <a:br>
                        <a:rPr lang="th-TH" sz="1100" b="1" u="none" strike="noStrike" dirty="0">
                          <a:effectLst/>
                        </a:rPr>
                      </a:br>
                      <a:r>
                        <a:rPr lang="th-TH" sz="1100" b="1" u="none" strike="noStrike" dirty="0">
                          <a:effectLst/>
                        </a:rPr>
                        <a:t>และผลประโยชน์ที่จะได้รับ)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437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>
                          <a:effectLst/>
                        </a:rPr>
                        <a:t>ประเภท </a:t>
                      </a:r>
                      <a:br>
                        <a:rPr lang="th-TH" sz="1100" b="1" u="none" strike="noStrike">
                          <a:effectLst/>
                        </a:rPr>
                      </a:br>
                      <a:r>
                        <a:rPr lang="th-TH" sz="1100" b="1" u="none" strike="noStrike">
                          <a:effectLst/>
                        </a:rPr>
                        <a:t>ก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>
                          <a:effectLst/>
                        </a:rPr>
                        <a:t>ประเภท </a:t>
                      </a:r>
                      <a:br>
                        <a:rPr lang="th-TH" sz="1100" b="1" u="none" strike="noStrike">
                          <a:effectLst/>
                        </a:rPr>
                      </a:br>
                      <a:r>
                        <a:rPr lang="th-TH" sz="1100" b="1" u="none" strike="noStrike">
                          <a:effectLst/>
                        </a:rPr>
                        <a:t>ข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>
                          <a:effectLst/>
                        </a:rPr>
                        <a:t>บุคคล</a:t>
                      </a:r>
                      <a:br>
                        <a:rPr lang="th-TH" sz="1100" b="1" u="none" strike="noStrike">
                          <a:effectLst/>
                        </a:rPr>
                      </a:br>
                      <a:r>
                        <a:rPr lang="th-TH" sz="1100" b="1" u="none" strike="noStrike">
                          <a:effectLst/>
                        </a:rPr>
                        <a:t>ภายนอก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th-TH" sz="1100" b="1" u="none" strike="noStrike" dirty="0">
                          <a:effectLst/>
                        </a:rPr>
                        <a:t>รวม</a:t>
                      </a:r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จำนวน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หน่วยนับ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อัตรา</a:t>
                      </a:r>
                      <a:br>
                        <a:rPr lang="th-TH" sz="1100" b="1" u="none" strike="noStrike">
                          <a:effectLst/>
                        </a:rPr>
                      </a:br>
                      <a:r>
                        <a:rPr lang="th-TH" sz="1100" b="1" u="none" strike="noStrike">
                          <a:effectLst/>
                        </a:rPr>
                        <a:t>ค่าใช้จ่าย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หน่วยนับ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ราชการ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100" b="1" u="none" strike="noStrike">
                          <a:effectLst/>
                        </a:rPr>
                        <a:t>เอกชน</a:t>
                      </a:r>
                      <a:endParaRPr lang="th-TH" sz="11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1742">
                <a:tc>
                  <a:txBody>
                    <a:bodyPr/>
                    <a:lstStyle/>
                    <a:p>
                      <a:pPr marL="0" marR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>
                          <a:effectLst/>
                        </a:rPr>
                        <a:t> </a:t>
                      </a:r>
                      <a:r>
                        <a:rPr lang="th-TH" sz="1100" b="1" u="none" strike="noStrike" dirty="0">
                          <a:effectLst/>
                        </a:rPr>
                        <a:t>ระบุชื่อโครงการ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 rtl="0" fontAlgn="t"/>
                      <a:endParaRPr lang="th-TH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5520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 dirty="0">
                          <a:effectLst/>
                        </a:rPr>
                        <a:t>……………………………..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 rowSpan="3"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520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b="1" u="none" strike="noStrike" dirty="0">
                          <a:effectLst/>
                        </a:rPr>
                        <a:t> ……………………………..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9283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000" b="1" u="none" strike="noStrike" dirty="0">
                          <a:effectLst/>
                        </a:rPr>
                        <a:t>รวมทั้งสิ้น</a:t>
                      </a:r>
                      <a:r>
                        <a:rPr lang="en-US" sz="1000" b="1" u="none" strike="noStrike" dirty="0">
                          <a:effectLst/>
                        </a:rPr>
                        <a:t> 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700" u="none" strike="noStrike" dirty="0">
                          <a:effectLst/>
                        </a:rPr>
                        <a:t>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0" marR="5890" marT="589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78063" y="514353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72258" y="514353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2577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4124" y="3952784"/>
            <a:ext cx="14077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ค่าโฆษณาและเผยแพร่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355598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355598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106014" y="520388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96047"/>
              </p:ext>
            </p:extLst>
          </p:nvPr>
        </p:nvGraphicFramePr>
        <p:xfrm>
          <a:off x="1312726" y="4854525"/>
          <a:ext cx="96266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7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827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410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10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410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4109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1187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หน่วย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อัตรา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301E7FA-DFC0-4421-8117-064A3D2617EC}"/>
              </a:ext>
            </a:extLst>
          </p:cNvPr>
          <p:cNvSpPr txBox="1"/>
          <p:nvPr/>
        </p:nvSpPr>
        <p:spPr>
          <a:xfrm>
            <a:off x="6978611" y="3379094"/>
            <a:ext cx="1935387" cy="92333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ค่าโฆษณาและเผยแพร่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900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89115" y="3794306"/>
            <a:ext cx="255390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ค่าใช้จ่ายในการบำรุงรักษาเครื่องปรับอากาศ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706157" y="5787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983109" y="5787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0341868" y="5006772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274954"/>
              </p:ext>
            </p:extLst>
          </p:nvPr>
        </p:nvGraphicFramePr>
        <p:xfrm>
          <a:off x="2252723" y="4776644"/>
          <a:ext cx="7912101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24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502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6898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(เครื่อง)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อัตรา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ค่าใช้จ่ายในการบำรุงรักษาเครื่องปรับอากาศ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7A6C9665-7F3F-46BD-962B-B25E91F94F71}"/>
              </a:ext>
            </a:extLst>
          </p:cNvPr>
          <p:cNvSpPr txBox="1"/>
          <p:nvPr/>
        </p:nvSpPr>
        <p:spPr>
          <a:xfrm>
            <a:off x="7197393" y="3366207"/>
            <a:ext cx="2098071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Fixed </a:t>
            </a:r>
            <a:r>
              <a:rPr lang="en-US" b="1" dirty="0" err="1">
                <a:solidFill>
                  <a:srgbClr val="FF0000"/>
                </a:solidFill>
              </a:rPr>
              <a:t>สอง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รายการนี้เท่านั้น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B47DE0BC-624B-475D-9D0E-5B402DC98A5A}"/>
              </a:ext>
            </a:extLst>
          </p:cNvPr>
          <p:cNvCxnSpPr/>
          <p:nvPr/>
        </p:nvCxnSpPr>
        <p:spPr>
          <a:xfrm flipH="1">
            <a:off x="4942247" y="3836173"/>
            <a:ext cx="2215877" cy="12107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978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4124" y="3952784"/>
            <a:ext cx="8707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ค่าใช้สอยอื่น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355598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355598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106014" y="520388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557909"/>
              </p:ext>
            </p:extLst>
          </p:nvPr>
        </p:nvGraphicFramePr>
        <p:xfrm>
          <a:off x="1312726" y="4854525"/>
          <a:ext cx="96266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4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945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945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9454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691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(หน่วย)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อัตรา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1BB8C7C-D153-498C-87CE-EEF8D12D0DDA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ค่าใช้สอยอื่น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F9B582C5-0186-4C34-9A64-0A5C64DD63CD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35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8975" y="3991421"/>
            <a:ext cx="11063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68192" y="4435544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449736" y="4435544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595411" y="519871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607003"/>
              </p:ext>
            </p:extLst>
          </p:nvPr>
        </p:nvGraphicFramePr>
        <p:xfrm>
          <a:off x="1389817" y="4891385"/>
          <a:ext cx="10071101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6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0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11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2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45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9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หน่วยนับ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ราคาต่อหน่วย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3068DB76-7E34-4B2D-8D13-07E43BE362C6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AF08A46D-8ACA-47B3-B18E-416A7E7C2479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772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4124" y="3952784"/>
            <a:ext cx="16979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ค่าวัสดุเชื้อเพลิงและหล่อลื่น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012246" y="4422665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993790" y="4422665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9994006" y="5152371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295913"/>
              </p:ext>
            </p:extLst>
          </p:nvPr>
        </p:nvGraphicFramePr>
        <p:xfrm>
          <a:off x="1924096" y="4886778"/>
          <a:ext cx="9531149" cy="1786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70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403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16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005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78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997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0469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4697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ประเภทยานพาหนะ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คัน</a:t>
                      </a:r>
                      <a:r>
                        <a:rPr lang="en-US" sz="1600" u="none" strike="noStrike" dirty="0">
                          <a:effectLst/>
                        </a:rPr>
                        <a:t> A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วัน/เดือน</a:t>
                      </a:r>
                      <a:r>
                        <a:rPr lang="en-US" sz="1600" u="none" strike="noStrike" dirty="0">
                          <a:effectLst/>
                        </a:rPr>
                        <a:t> B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ลิตร/คัน/เดือน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ลิตรละ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จำนวน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ต่อปี (บาท)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th-TH" sz="1600" u="none" strike="noStrike" dirty="0">
                          <a:effectLst/>
                        </a:rPr>
                        <a:t>Amount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Amount days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r>
                        <a:rPr lang="en-US" sz="1600" u="none" strike="noStrike" dirty="0" err="1">
                          <a:effectLst/>
                        </a:rPr>
                        <a:t>กี่ลิตร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ทั้งเดือน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A*B*C*D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X 12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F3C13CA-D75C-4867-990A-180F804FAF98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1AFDB9B8-EC8F-4F18-A0A5-267031B31559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30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8975" y="3991421"/>
            <a:ext cx="13548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ค่าวัสดุไฟฟ้าและวิทยุ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68192" y="4435544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449736" y="4435544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595411" y="519871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005426"/>
              </p:ext>
            </p:extLst>
          </p:nvPr>
        </p:nvGraphicFramePr>
        <p:xfrm>
          <a:off x="1389817" y="4891385"/>
          <a:ext cx="10071101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6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0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11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2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45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9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หน่วยนับ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ราคาต่อหน่วย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DDL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841C666-B276-4B17-AF29-DF631C19CBCE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071D79E0-17AE-40C6-BF8C-264C6F50ED14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4761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8975" y="3991421"/>
            <a:ext cx="20521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ค่าวัสดุวิทยาศาสตร์หรือการแพทย์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68192" y="4435544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449736" y="4435544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088557" y="629553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8" y="629553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775715" y="519871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32014"/>
              </p:ext>
            </p:extLst>
          </p:nvPr>
        </p:nvGraphicFramePr>
        <p:xfrm>
          <a:off x="1397311" y="4956496"/>
          <a:ext cx="101981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6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0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0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2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92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ประเภท/รายการ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หน่วยนับ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ราคา/หน่วย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DF8AE832-1F14-44F0-BED4-798CAE1B6B55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370CE7AA-04DF-4967-9150-A9885981E4E1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062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8975" y="3991421"/>
            <a:ext cx="12698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ค่าวัสดุคอมพิวเตอร์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68192" y="4435544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449736" y="4435544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294619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614174" y="61262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595411" y="519871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89817" y="4891385"/>
          <a:ext cx="10071101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6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0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011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20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45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920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หน่วยนับ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ราคาต่อหน่วย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E0394C5-1802-4826-919E-718D9FAB73BC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02B5E1B5-1AC6-4D2A-9B40-262CDA7703F6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6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18975" y="3991421"/>
            <a:ext cx="17748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ค่าวัสดุยานพาหนะและขน</a:t>
            </a:r>
            <a:r>
              <a:rPr lang="th-TH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ส่ง</a:t>
            </a:r>
            <a:endParaRPr lang="en-US" sz="1600" b="1" u="sn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68192" y="4435544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449736" y="4435544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088557" y="629553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8" y="629553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775715" y="5198719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920761"/>
              </p:ext>
            </p:extLst>
          </p:nvPr>
        </p:nvGraphicFramePr>
        <p:xfrm>
          <a:off x="1397311" y="4956496"/>
          <a:ext cx="101981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3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46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280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280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2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9459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921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ประเภท/รายการ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หน่วยนับ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ราคา/หน่วย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รวมทั้งสิ้น 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รถยนต์  (ยาง)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F6D94C8-F0E0-4CA9-8694-5920C45B8CCB}"/>
              </a:ext>
            </a:extLst>
          </p:cNvPr>
          <p:cNvSpPr txBox="1"/>
          <p:nvPr/>
        </p:nvSpPr>
        <p:spPr>
          <a:xfrm>
            <a:off x="6978611" y="3379094"/>
            <a:ext cx="1935387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</a:rPr>
              <a:t>Setup </a:t>
            </a:r>
            <a:r>
              <a:rPr lang="th-TH" sz="18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ค่าวัสดุสำนักงาน</a:t>
            </a:r>
            <a:endParaRPr lang="en-US" sz="18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E45374A4-AD24-41F3-8056-FDF7A945F24D}"/>
              </a:ext>
            </a:extLst>
          </p:cNvPr>
          <p:cNvCxnSpPr/>
          <p:nvPr/>
        </p:nvCxnSpPr>
        <p:spPr>
          <a:xfrm flipH="1">
            <a:off x="4577610" y="3952784"/>
            <a:ext cx="2412221" cy="90174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401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14431" y="3538202"/>
            <a:ext cx="39901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ค่าไฟฟ้า ประปา โทรศัพท์ ไปรษณีย์ ค่าบริการสื่อสารและโทรคมนาคม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088557" y="6462586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347138" y="6462586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89961"/>
              </p:ext>
            </p:extLst>
          </p:nvPr>
        </p:nvGraphicFramePr>
        <p:xfrm>
          <a:off x="3000911" y="4065244"/>
          <a:ext cx="6819900" cy="2266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9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33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926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546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600" u="none" strike="noStrike" dirty="0">
                          <a:effectLst/>
                        </a:rPr>
                        <a:t>จ่ายจริงปี</a:t>
                      </a:r>
                      <a:r>
                        <a:rPr lang="th-TH" sz="16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ก่อนหน้า </a:t>
                      </a:r>
                    </a:p>
                    <a:p>
                      <a:pPr algn="ctr" rtl="0" fontAlgn="t"/>
                      <a:r>
                        <a:rPr lang="th-TH" sz="1600" u="none" strike="noStrike" dirty="0">
                          <a:effectLst/>
                        </a:rPr>
                        <a:t>ปี </a:t>
                      </a:r>
                      <a:r>
                        <a:rPr lang="en-US" sz="1600" u="none" strike="noStrike" dirty="0">
                          <a:effectLst/>
                        </a:rPr>
                        <a:t>2563 </a:t>
                      </a:r>
                      <a:r>
                        <a:rPr lang="th-TH" sz="1600" u="none" strike="noStrike" dirty="0">
                          <a:effectLst/>
                        </a:rPr>
                        <a:t>(บาท)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600" u="none" strike="noStrike">
                          <a:effectLst/>
                        </a:rPr>
                        <a:t>คำของบประมาณ</a:t>
                      </a:r>
                      <a:br>
                        <a:rPr lang="th-TH" sz="1600" u="none" strike="noStrike">
                          <a:effectLst/>
                        </a:rPr>
                      </a:br>
                      <a:r>
                        <a:rPr lang="th-TH" sz="1600" u="none" strike="noStrike">
                          <a:effectLst/>
                        </a:rPr>
                        <a:t>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th-TH" sz="16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cs typeface="+mn-cs"/>
                        </a:rPr>
                        <a:t>ค่าโทรศัพท์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 dirty="0">
                          <a:effectLst/>
                        </a:rPr>
                        <a:t> 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 dirty="0">
                          <a:effectLst/>
                        </a:rPr>
                        <a:t>INPUT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th-TH" sz="1600" u="none" strike="noStrike" dirty="0">
                          <a:effectLst/>
                        </a:rPr>
                        <a:t>ค่าประปา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u="none" strike="noStrike" dirty="0">
                          <a:effectLst/>
                        </a:rPr>
                        <a:t>ค่าไปรษณีย์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th-TH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ค่าไฟฟ้า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 ค่าบริการสื่อสารและโทรคมนาคม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9204525-A407-43F1-A75D-2AD03D777608}"/>
              </a:ext>
            </a:extLst>
          </p:cNvPr>
          <p:cNvSpPr txBox="1"/>
          <p:nvPr/>
        </p:nvSpPr>
        <p:spPr>
          <a:xfrm>
            <a:off x="8771775" y="3260992"/>
            <a:ext cx="2098071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Fixed </a:t>
            </a:r>
            <a:r>
              <a:rPr lang="en-US" b="1" dirty="0" err="1">
                <a:solidFill>
                  <a:srgbClr val="FF0000"/>
                </a:solidFill>
              </a:rPr>
              <a:t>สอง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รายการนี้เท่านั้น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3EC76129-C572-42AA-AAF7-770EA9CF9DF7}"/>
              </a:ext>
            </a:extLst>
          </p:cNvPr>
          <p:cNvCxnSpPr/>
          <p:nvPr/>
        </p:nvCxnSpPr>
        <p:spPr>
          <a:xfrm flipH="1">
            <a:off x="6516629" y="3730958"/>
            <a:ext cx="2215877" cy="12107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510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691" y="3625029"/>
            <a:ext cx="11833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ครุภัณฑ์สำนักงาน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00113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00113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90733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7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925837" y="5421449"/>
            <a:ext cx="266163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176190"/>
              </p:ext>
            </p:extLst>
          </p:nvPr>
        </p:nvGraphicFramePr>
        <p:xfrm>
          <a:off x="1268104" y="4423128"/>
          <a:ext cx="9588784" cy="1633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64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81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25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3380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5729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281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72590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80796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ลำดับ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ชื่อรายการ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คุณลักษณะของครุภัณฑ์ (</a:t>
                      </a:r>
                      <a:r>
                        <a:rPr lang="en-US" sz="1400" u="none" strike="noStrike">
                          <a:effectLst/>
                        </a:rPr>
                        <a:t>Spec)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กรอบครุภัณฑ์ 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วัตถุประสงค์ในการขอ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ราคา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ต่อหน่วย/ชุด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 (บาท)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E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ราคารวม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(บาท)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C+D * E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ปัญหา อุปสรรค เหตุผลจำเป็นที่ต้องจัดหาครุภัณฑ์นี้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*(ต้องระบุให้ชัดเจนเพื่อใช้ประกอบการชี้แจงสำนักงบประมาณ)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0818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ไม่กำหนดราคามาตรฐานครุภัณฑ์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ความต้องการ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จำนวนที่มีอยู่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B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เพิ่มเติม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C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ทดแทนของเดิม</a:t>
                      </a:r>
                      <a:endParaRPr lang="en-US" sz="1400" u="none" strike="noStrike" dirty="0">
                        <a:effectLst/>
                      </a:endParaRPr>
                    </a:p>
                    <a:p>
                      <a:pPr algn="ctr" rtl="0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D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DDL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 dirty="0">
                          <a:effectLst/>
                        </a:rPr>
                        <a:t>15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 dirty="0">
                          <a:effectLst/>
                        </a:rPr>
                        <a:t>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 dirty="0">
                          <a:effectLst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10,000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80,000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B+C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C+D eq. 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47042" y="5468967"/>
            <a:ext cx="734096" cy="30777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BEDEE8B-FE62-4078-ABEB-DCBE5840B5B6}"/>
              </a:ext>
            </a:extLst>
          </p:cNvPr>
          <p:cNvSpPr txBox="1"/>
          <p:nvPr/>
        </p:nvSpPr>
        <p:spPr>
          <a:xfrm>
            <a:off x="7996048" y="3332529"/>
            <a:ext cx="1648416" cy="92333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แนบเอกสารเพิ่มเติม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ต่อราย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บังคับ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กรณีไม่ใช่ราคา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มาตรฐาน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F3358162-6709-4F1F-B5F6-88CA6813EF8B}"/>
              </a:ext>
            </a:extLst>
          </p:cNvPr>
          <p:cNvCxnSpPr>
            <a:endCxn id="27" idx="0"/>
          </p:cNvCxnSpPr>
          <p:nvPr/>
        </p:nvCxnSpPr>
        <p:spPr>
          <a:xfrm>
            <a:off x="9582026" y="3909903"/>
            <a:ext cx="1732064" cy="15590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5CF09EB-E8B5-46DB-BB12-8AF0F2BB4289}"/>
              </a:ext>
            </a:extLst>
          </p:cNvPr>
          <p:cNvSpPr txBox="1"/>
          <p:nvPr/>
        </p:nvSpPr>
        <p:spPr>
          <a:xfrm>
            <a:off x="3566661" y="2981245"/>
            <a:ext cx="1648416" cy="369332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ให้สามารถระบุอื่นๆ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ได้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B2CE0322-A8F4-42AA-97C1-6E8CD4AF859D}"/>
              </a:ext>
            </a:extLst>
          </p:cNvPr>
          <p:cNvCxnSpPr/>
          <p:nvPr/>
        </p:nvCxnSpPr>
        <p:spPr>
          <a:xfrm flipH="1">
            <a:off x="1776671" y="3332529"/>
            <a:ext cx="1946656" cy="219905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BFDBC3CF-C227-47D6-8E25-38F72DE338DC}"/>
              </a:ext>
            </a:extLst>
          </p:cNvPr>
          <p:cNvSpPr txBox="1"/>
          <p:nvPr/>
        </p:nvSpPr>
        <p:spPr>
          <a:xfrm>
            <a:off x="4984124" y="1639659"/>
            <a:ext cx="1648416" cy="923330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ตั้งค่า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ครุภัณฑ์</a:t>
            </a:r>
            <a:r>
              <a:rPr lang="en-US" b="1" dirty="0">
                <a:solidFill>
                  <a:srgbClr val="FF0000"/>
                </a:solidFill>
              </a:rPr>
              <a:t>   </a:t>
            </a:r>
            <a:r>
              <a:rPr lang="en-US" b="1" dirty="0" err="1">
                <a:solidFill>
                  <a:srgbClr val="FF0000"/>
                </a:solidFill>
              </a:rPr>
              <a:t>ชื่อ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ราคาครุภัณฑ์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เป็นราคามาตรฐานหรือไม่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B5F1B544-C78A-45EB-9889-02169EF375D4}"/>
              </a:ext>
            </a:extLst>
          </p:cNvPr>
          <p:cNvCxnSpPr/>
          <p:nvPr/>
        </p:nvCxnSpPr>
        <p:spPr>
          <a:xfrm flipH="1">
            <a:off x="6096000" y="2569916"/>
            <a:ext cx="114066" cy="1055113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501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691" y="3625029"/>
            <a:ext cx="13805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ครุภัณฑ์คอมพิวเตอร์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00113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00113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90733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7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925837" y="5421449"/>
            <a:ext cx="266163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68104" y="4423128"/>
          <a:ext cx="9588784" cy="1633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64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81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25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3380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5729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281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72590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80796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ลำดับ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ชื่อรายการ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คุณลักษณะของครุภัณฑ์ (</a:t>
                      </a:r>
                      <a:r>
                        <a:rPr lang="en-US" sz="1400" u="none" strike="noStrike">
                          <a:effectLst/>
                        </a:rPr>
                        <a:t>Spec)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กรอบครุภัณฑ์ 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วัตถุประสงค์ในการขอ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ต่อหน่วย/ชุด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 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ราคารวม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ปัญหา อุปสรรค เหตุผลจำเป็นที่ต้องจัดหาครุภัณฑ์นี้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*(ต้องระบุให้ชัดเจนเพื่อใช้ประกอบการชี้แจงสำนักงบประมาณ)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0818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ไม่กำหนดราคามาตรฐานครุภัณฑ์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ความต้องการ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จำนวนที่มีอยู่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เพิ่มเติม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ทดแทนของเดิม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10,000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80,000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47042" y="5468967"/>
            <a:ext cx="73409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518DFEB-C4CF-450D-A842-290BBF0DBD5C}"/>
              </a:ext>
            </a:extLst>
          </p:cNvPr>
          <p:cNvSpPr txBox="1"/>
          <p:nvPr/>
        </p:nvSpPr>
        <p:spPr>
          <a:xfrm>
            <a:off x="5318975" y="2732763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เหมือน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ครุภัณฑ์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สไล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สามสี่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265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691" y="3625029"/>
            <a:ext cx="1851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ครุภัณฑ์ยานพาหนะและขนส่ง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00113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00113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90733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7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925837" y="5421449"/>
            <a:ext cx="266163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68104" y="4423128"/>
          <a:ext cx="9588784" cy="1633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64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81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25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3380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5729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281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72590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80796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ลำดับ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ชื่อรายการ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คุณลักษณะของครุภัณฑ์ (</a:t>
                      </a:r>
                      <a:r>
                        <a:rPr lang="en-US" sz="1400" u="none" strike="noStrike">
                          <a:effectLst/>
                        </a:rPr>
                        <a:t>Spec)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กรอบครุภัณฑ์ 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วัตถุประสงค์ในการขอ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ต่อหน่วย/ชุด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 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ราคารวม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ปัญหา อุปสรรค เหตุผลจำเป็นที่ต้องจัดหาครุภัณฑ์นี้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*(ต้องระบุให้ชัดเจนเพื่อใช้ประกอบการชี้แจงสำนักงบประมาณ)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0818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ไม่กำหนดราคามาตรฐานครุภัณฑ์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ความต้องการ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จำนวนที่มีอยู่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เพิ่มเติม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ทดแทนของเดิม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10,000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80,000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47042" y="5468967"/>
            <a:ext cx="73409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B2E07DB-8360-4EEE-8786-095332BFAE12}"/>
              </a:ext>
            </a:extLst>
          </p:cNvPr>
          <p:cNvSpPr txBox="1"/>
          <p:nvPr/>
        </p:nvSpPr>
        <p:spPr>
          <a:xfrm>
            <a:off x="5318975" y="2732763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เหมือน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ครุภัณฑ์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สไล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สามสี่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55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691" y="3625029"/>
            <a:ext cx="133402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ครุภัณฑ์วิทยาศาสตร์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00113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00113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90733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7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925837" y="5421449"/>
            <a:ext cx="266163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68104" y="4423128"/>
          <a:ext cx="9588784" cy="1633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64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81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25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3380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5729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281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72590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80796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ลำดับ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ชื่อรายการ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คุณลักษณะของครุภัณฑ์ (</a:t>
                      </a:r>
                      <a:r>
                        <a:rPr lang="en-US" sz="1400" u="none" strike="noStrike">
                          <a:effectLst/>
                        </a:rPr>
                        <a:t>Spec)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กรอบครุภัณฑ์ 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วัตถุประสงค์ในการขอ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ต่อหน่วย/ชุด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 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ราคารวม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ปัญหา อุปสรรค เหตุผลจำเป็นที่ต้องจัดหาครุภัณฑ์นี้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*(ต้องระบุให้ชัดเจนเพื่อใช้ประกอบการชี้แจงสำนักงบประมาณ)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0818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ไม่กำหนดราคามาตรฐานครุภัณฑ์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ความต้องการ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จำนวนที่มีอยู่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เพิ่มเติม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ทดแทนของเดิม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10,000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80,000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47042" y="5468967"/>
            <a:ext cx="73409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C4C8FE5-980F-4221-9EF2-3BDE48C5D61F}"/>
              </a:ext>
            </a:extLst>
          </p:cNvPr>
          <p:cNvSpPr txBox="1"/>
          <p:nvPr/>
        </p:nvSpPr>
        <p:spPr>
          <a:xfrm>
            <a:off x="5318975" y="2732763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เหมือน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ครุภัณฑ์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สไล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สามสี่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441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691" y="3625029"/>
            <a:ext cx="8899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ครุภัณฑ์อื่นๆ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414519" y="4001130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1396063" y="400113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5190733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37577" y="627234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11925837" y="5421449"/>
            <a:ext cx="266163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22888"/>
              </p:ext>
            </p:extLst>
          </p:nvPr>
        </p:nvGraphicFramePr>
        <p:xfrm>
          <a:off x="1268104" y="4423128"/>
          <a:ext cx="9588784" cy="1633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53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5483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864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9857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811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51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9252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3380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5729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2811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172590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80796"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ลำดับ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ชื่อรายการ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คุณลักษณะของครุภัณฑ์ (</a:t>
                      </a:r>
                      <a:r>
                        <a:rPr lang="en-US" sz="1400" u="none" strike="noStrike">
                          <a:effectLst/>
                        </a:rPr>
                        <a:t>Spec)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กรอบครุภัณฑ์ 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วัตถุประสงค์ในการขอ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ต่อหน่วย/ชุด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 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ราคารวม</a:t>
                      </a:r>
                      <a:br>
                        <a:rPr lang="th-TH" sz="1400" u="none" strike="noStrike">
                          <a:effectLst/>
                        </a:rPr>
                      </a:br>
                      <a:r>
                        <a:rPr lang="th-TH" sz="1400" u="none" strike="noStrike">
                          <a:effectLst/>
                        </a:rPr>
                        <a:t>(บาท)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ปัญหา อุปสรรค เหตุผลจำเป็นที่ต้องจัดหาครุภัณฑ์นี้</a:t>
                      </a:r>
                      <a:br>
                        <a:rPr lang="th-TH" sz="1400" u="none" strike="noStrike" dirty="0">
                          <a:effectLst/>
                        </a:rPr>
                      </a:br>
                      <a:r>
                        <a:rPr lang="th-TH" sz="1400" u="none" strike="noStrike" dirty="0">
                          <a:effectLst/>
                        </a:rPr>
                        <a:t>*(ต้องระบุให้ชัดเจนเพื่อใช้ประกอบการชี้แจงสำนักงบประมาณ)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0818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ไม่กำหนดราคามาตรฐานครุภัณฑ์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ความต้องการ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จำนวนที่มีอยู่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 dirty="0">
                          <a:effectLst/>
                        </a:rPr>
                        <a:t>เพิ่มเติม</a:t>
                      </a:r>
                      <a:endParaRPr lang="th-TH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th-TH" sz="1400" u="none" strike="noStrike">
                          <a:effectLst/>
                        </a:rPr>
                        <a:t>ทดแทนของเดิม</a:t>
                      </a:r>
                      <a:endParaRPr lang="th-TH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free key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checkbox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checkbox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10,000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u="none" strike="noStrike" dirty="0">
                          <a:effectLst/>
                        </a:rPr>
                        <a:t>80,000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078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u="none" strike="noStrike" dirty="0">
                          <a:effectLst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8462" marR="8462" marT="8462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0947042" y="5468967"/>
            <a:ext cx="73409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89167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3226" y="3933033"/>
            <a:ext cx="12715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ที่ดินและสิ่งก่อสร้าง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43200" y="4293146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724744" y="4293146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51731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6418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sp>
        <p:nvSpPr>
          <p:cNvPr id="28" name="Minus 27"/>
          <p:cNvSpPr/>
          <p:nvPr/>
        </p:nvSpPr>
        <p:spPr>
          <a:xfrm>
            <a:off x="9652657" y="506615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819399"/>
              </p:ext>
            </p:extLst>
          </p:nvPr>
        </p:nvGraphicFramePr>
        <p:xfrm>
          <a:off x="2711113" y="4774340"/>
          <a:ext cx="6032500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49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00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ลำดับ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822638" y="5113671"/>
            <a:ext cx="734096" cy="307777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cs typeface="+mj-cs"/>
              </a:rPr>
              <a:t>แนบไฟท์</a:t>
            </a:r>
            <a:endParaRPr lang="en-US" sz="1400" dirty="0"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A6AD074-3851-4CC7-A770-0625D89AE93A}"/>
              </a:ext>
            </a:extLst>
          </p:cNvPr>
          <p:cNvSpPr txBox="1"/>
          <p:nvPr/>
        </p:nvSpPr>
        <p:spPr>
          <a:xfrm>
            <a:off x="5318975" y="2732763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บังคับแนบไลน์ทุกรายการ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687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96618" y="4093392"/>
            <a:ext cx="66133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เงินอุดหนุนสำหรับค่าสินบนและเงินรางวัล สุรา ยาสูบ ไพ่ แสตมป์สรรพสามิตและ พ.ร.บ. ภาษีสรรพสามิต พ.ศ. 2527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1731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6418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062234"/>
              </p:ext>
            </p:extLst>
          </p:nvPr>
        </p:nvGraphicFramePr>
        <p:xfrm>
          <a:off x="2434107" y="4832297"/>
          <a:ext cx="60325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49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00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เงินสินบนและเงินรางวัล สุรา ยาสูบ ไพ่แสตมป์สรรพสามิต และ พ.ร.บ. ภาษีสรรพสามิต พ.ศ. 2527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0641922-84C4-4020-B314-A3FD55327B88}"/>
              </a:ext>
            </a:extLst>
          </p:cNvPr>
          <p:cNvSpPr txBox="1"/>
          <p:nvPr/>
        </p:nvSpPr>
        <p:spPr>
          <a:xfrm>
            <a:off x="5318975" y="2732763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แสดงรายการเดียว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และ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ระบุข้อมูล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48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62763" y="3924115"/>
            <a:ext cx="56837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ค่าใช้จ่ายในการจัดพิมพ์แสตมป์สรรพสา</a:t>
            </a:r>
            <a:r>
              <a:rPr lang="th-TH" sz="1600" b="1" u="sng" dirty="0">
                <a:latin typeface="Angsana New" panose="02020603050405020304" pitchFamily="18" charset="-34"/>
                <a:cs typeface="Angsana New" panose="02020603050405020304" pitchFamily="18" charset="-34"/>
              </a:rPr>
              <a:t>มิต</a:t>
            </a:r>
            <a:endParaRPr lang="en-US" sz="1600" b="1" u="sng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434107" y="4333506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62" name="Plus 61"/>
          <p:cNvSpPr/>
          <p:nvPr/>
        </p:nvSpPr>
        <p:spPr>
          <a:xfrm>
            <a:off x="2344993" y="4335085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451731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64181" y="6162817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021035"/>
              </p:ext>
            </p:extLst>
          </p:nvPr>
        </p:nvGraphicFramePr>
        <p:xfrm>
          <a:off x="2434107" y="4843817"/>
          <a:ext cx="5588000" cy="1106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 dirty="0">
                          <a:effectLst/>
                        </a:rPr>
                        <a:t>รายการ (ประเภทแสตมป์)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ดวง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รวมทั้งสิ้น (บาท)</a:t>
                      </a:r>
                      <a:endParaRPr lang="th-TH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Amounts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Price Per Item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7" name="Minus 26"/>
          <p:cNvSpPr/>
          <p:nvPr/>
        </p:nvSpPr>
        <p:spPr>
          <a:xfrm>
            <a:off x="8169497" y="5104456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237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029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996618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633198"/>
              </p:ext>
            </p:extLst>
          </p:nvPr>
        </p:nvGraphicFramePr>
        <p:xfrm>
          <a:off x="2996618" y="4236052"/>
          <a:ext cx="534889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113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4974539" y="3244334"/>
            <a:ext cx="2242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ค่าใช้จ่ายในการอบรมต่างประเทศ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EB72B91-54EB-42DD-B7EB-36AD6CCBC66F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6399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029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996618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140884"/>
              </p:ext>
            </p:extLst>
          </p:nvPr>
        </p:nvGraphicFramePr>
        <p:xfrm>
          <a:off x="2996618" y="4236052"/>
          <a:ext cx="534889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113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text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932059" y="3244334"/>
            <a:ext cx="23278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ค่าใช้จ่ายในการประชุมต่างประเทศ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FA2B710-0753-4C8F-9630-B14A1F5F6DAB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3827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029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996618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418803"/>
              </p:ext>
            </p:extLst>
          </p:nvPr>
        </p:nvGraphicFramePr>
        <p:xfrm>
          <a:off x="2996618" y="4236052"/>
          <a:ext cx="534889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113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542803" y="3244334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ค่าจ้างที่ปรึกษา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A4D4AB5-07E7-4D90-A9D4-2A3C212E111B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9430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029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996618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571905"/>
              </p:ext>
            </p:extLst>
          </p:nvPr>
        </p:nvGraphicFramePr>
        <p:xfrm>
          <a:off x="2996618" y="4236052"/>
          <a:ext cx="534889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113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Free text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436204" y="324433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ค่าทุนการศึกษาต่อ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0BD1C1E-6FA3-43CD-9DF3-84028C759110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13849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910011"/>
              </p:ext>
            </p:extLst>
          </p:nvPr>
        </p:nvGraphicFramePr>
        <p:xfrm>
          <a:off x="2996618" y="4236052"/>
          <a:ext cx="5348892" cy="103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2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1630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6393">
                  <a:extLst>
                    <a:ext uri="{9D8B030D-6E8A-4147-A177-3AD203B41FA5}">
                      <a16:colId xmlns:a16="http://schemas.microsoft.com/office/drawing/2014/main" xmlns="" val="3358779386"/>
                    </a:ext>
                  </a:extLst>
                </a:gridCol>
                <a:gridCol w="1156393">
                  <a:extLst>
                    <a:ext uri="{9D8B030D-6E8A-4147-A177-3AD203B41FA5}">
                      <a16:colId xmlns:a16="http://schemas.microsoft.com/office/drawing/2014/main" xmlns="" val="2358127956"/>
                    </a:ext>
                  </a:extLst>
                </a:gridCol>
                <a:gridCol w="11505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จำนวนราย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รายละ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โครงการตรวจสุขภาพ</a:t>
                      </a:r>
                      <a:r>
                        <a:rPr lang="th-TH" sz="1600" dirty="0"/>
                        <a:t> (ลูกจ้างชั่วคราว)</a:t>
                      </a:r>
                      <a:endParaRPr lang="en-US" sz="1600" dirty="0"/>
                    </a:p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Amounts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H SarabunPSK" panose="020B0500040200020003" pitchFamily="34" charset="-34"/>
                          <a:cs typeface="TH SarabunPSK" panose="020B0500040200020003" pitchFamily="34" charset="-34"/>
                        </a:rPr>
                        <a:t>Price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327200" y="3244334"/>
            <a:ext cx="2598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โครงการตรวจสุขภาพ</a:t>
            </a:r>
            <a:r>
              <a:rPr lang="th-TH" dirty="0">
                <a:solidFill>
                  <a:srgbClr val="FF0000"/>
                </a:solidFill>
              </a:rPr>
              <a:t> (ลูกจ้างชั่วคราว</a:t>
            </a:r>
            <a:r>
              <a:rPr lang="th-TH" dirty="0"/>
              <a:t>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B58F90B-F230-4156-B794-C11A8F35B63D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8776A40-797B-4DB9-AAF9-1A49C50123B8}"/>
              </a:ext>
            </a:extLst>
          </p:cNvPr>
          <p:cNvSpPr txBox="1"/>
          <p:nvPr/>
        </p:nvSpPr>
        <p:spPr>
          <a:xfrm>
            <a:off x="8151932" y="3430550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แสดงรายการเดียว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และ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ระบุข้อมูล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7299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3707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8192" y="282578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กิจกรรม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6541" y="281196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งบรายจ่าย</a:t>
            </a:r>
            <a:endParaRPr lang="en-US" sz="1600" b="1" dirty="0">
              <a:cs typeface="+mj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90177" y="5824263"/>
            <a:ext cx="1847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8192" y="2219569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แผนงาน</a:t>
            </a:r>
            <a:endParaRPr lang="en-US" sz="1600" b="1" dirty="0">
              <a:cs typeface="+mj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86540" y="2231362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ผลผลิต</a:t>
            </a:r>
            <a:endParaRPr lang="en-US" sz="1600" b="1" dirty="0">
              <a:cs typeface="+mj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68192" y="337909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</a:t>
            </a:r>
            <a:endParaRPr lang="en-US" sz="1600" b="1" dirty="0">
              <a:cs typeface="+mj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60997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9974" y="2910374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09974" y="3455752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96364" y="229874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5999" y="2863406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10493" y="3924115"/>
            <a:ext cx="568371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1600" b="1" u="sng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ค่าถอนคืนรายได้แผ่นดิน</a:t>
            </a:r>
            <a:endParaRPr lang="en-US" sz="1600" b="1" u="sng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353060" y="576885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64181" y="5768855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4003413"/>
              </p:ext>
            </p:extLst>
          </p:nvPr>
        </p:nvGraphicFramePr>
        <p:xfrm>
          <a:off x="2451280" y="4851094"/>
          <a:ext cx="60325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493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800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>
                          <a:effectLst/>
                        </a:rPr>
                        <a:t>รายการ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หมายเหตุ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th-TH" sz="1600" u="none" strike="noStrike" dirty="0">
                          <a:effectLst/>
                        </a:rPr>
                        <a:t>ค่าถอนคืนเงินรายได้แผ่นดิน</a:t>
                      </a:r>
                      <a:endParaRPr lang="th-TH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C1481DB-823E-4505-94E7-BB7DED89365C}"/>
              </a:ext>
            </a:extLst>
          </p:cNvPr>
          <p:cNvSpPr txBox="1"/>
          <p:nvPr/>
        </p:nvSpPr>
        <p:spPr>
          <a:xfrm>
            <a:off x="7394607" y="3999535"/>
            <a:ext cx="1648416" cy="646331"/>
          </a:xfrm>
          <a:prstGeom prst="rect">
            <a:avLst/>
          </a:prstGeom>
          <a:noFill/>
          <a:ln w="508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แสดงรายการเดียว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และ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ระบุข้อมูล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050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" r="85800"/>
          <a:stretch/>
        </p:blipFill>
        <p:spPr>
          <a:xfrm>
            <a:off x="161368" y="-34853"/>
            <a:ext cx="1306824" cy="996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8192" y="0"/>
            <a:ext cx="10723808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4000" b="1" dirty="0">
                <a:solidFill>
                  <a:schemeClr val="bg1"/>
                </a:solidFill>
                <a:cs typeface="+mj-cs"/>
              </a:rPr>
              <a:t>ระบบบริหารจัดการงบประมาณ</a:t>
            </a:r>
            <a:endParaRPr lang="en-US" sz="40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37949" y="771171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นายสมชาย ขยันทำงาน</a:t>
            </a:r>
            <a:endParaRPr lang="en-US" sz="1600" b="1" dirty="0"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68325" y="1193169"/>
            <a:ext cx="15282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ปีงบประมาณ ............</a:t>
            </a:r>
            <a:endParaRPr lang="en-US" sz="1600" b="1" dirty="0">
              <a:cs typeface="+mj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8192" y="1625331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กรมสรรพสามิต</a:t>
            </a:r>
            <a:endParaRPr lang="en-US" sz="1600" b="1" dirty="0"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6541" y="1631627"/>
            <a:ext cx="3515932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สำนัก....................................</a:t>
            </a:r>
            <a:endParaRPr lang="en-US" sz="1600" b="1" dirty="0"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0029" y="3818891"/>
            <a:ext cx="119545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    </a:t>
            </a:r>
            <a:r>
              <a:rPr lang="en-US" sz="1600" b="1" dirty="0">
                <a:cs typeface="+mj-cs"/>
              </a:rPr>
              <a:t> </a:t>
            </a:r>
            <a:r>
              <a:rPr lang="th-TH" sz="1600" b="1" dirty="0">
                <a:cs typeface="+mj-cs"/>
              </a:rPr>
              <a:t>เพิ่มรายการ</a:t>
            </a:r>
            <a:endParaRPr lang="en-US" sz="1600" b="1" dirty="0">
              <a:cs typeface="+mj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0631" y="2359014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หมวดหลัก</a:t>
            </a:r>
            <a:endParaRPr lang="en-US" sz="1600" b="1" dirty="0">
              <a:cs typeface="+mj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462529" y="2469918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03593" y="2492083"/>
            <a:ext cx="386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xxx</a:t>
            </a:r>
          </a:p>
        </p:txBody>
      </p:sp>
      <p:sp>
        <p:nvSpPr>
          <p:cNvPr id="13" name="Plus 12"/>
          <p:cNvSpPr/>
          <p:nvPr/>
        </p:nvSpPr>
        <p:spPr>
          <a:xfrm>
            <a:off x="2996618" y="3820470"/>
            <a:ext cx="321972" cy="336975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3226158" y="235570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งบประมาณ</a:t>
            </a:r>
            <a:endParaRPr lang="en-US" sz="1600" b="1" dirty="0">
              <a:cs typeface="+mj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6017" y="5811560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บันทึก</a:t>
            </a:r>
            <a:endParaRPr lang="en-US" sz="1600" b="1" dirty="0">
              <a:cs typeface="+mj-cs"/>
            </a:endParaRPr>
          </a:p>
        </p:txBody>
      </p:sp>
      <p:sp>
        <p:nvSpPr>
          <p:cNvPr id="20" name="Minus 19"/>
          <p:cNvSpPr/>
          <p:nvPr/>
        </p:nvSpPr>
        <p:spPr>
          <a:xfrm>
            <a:off x="8573036" y="4533363"/>
            <a:ext cx="321839" cy="402814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ค่าปรับปรุงสำนักงานและบ้านพักข้าราชการ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096000" y="5796698"/>
            <a:ext cx="965915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ยกเลิก</a:t>
            </a:r>
            <a:endParaRPr lang="en-US" sz="1600" b="1" dirty="0">
              <a:cs typeface="+mj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37655"/>
              </p:ext>
            </p:extLst>
          </p:nvPr>
        </p:nvGraphicFramePr>
        <p:xfrm>
          <a:off x="2996618" y="4236052"/>
          <a:ext cx="5348892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1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283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113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ลำดับ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th-TH" sz="1600" u="none" strike="noStrike" dirty="0">
                          <a:effectLst/>
                        </a:rPr>
                        <a:t>รายการ</a:t>
                      </a:r>
                      <a:endParaRPr lang="th-TH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th-TH" sz="1600" u="none" strike="noStrike">
                          <a:effectLst/>
                        </a:rPr>
                        <a:t>จำนวน (บาท)</a:t>
                      </a:r>
                      <a:endParaRPr lang="th-TH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 dirty="0">
                          <a:effectLst/>
                        </a:rPr>
                        <a:t> Free text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>
                          <a:effectLst/>
                        </a:rPr>
                        <a:t> 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H SarabunPSK" panose="020B0500040200020003" pitchFamily="34" charset="-34"/>
                        <a:cs typeface="TH SarabunPSK" panose="020B0500040200020003" pitchFamily="34" charset="-3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5327200" y="3244334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โ</a:t>
            </a:r>
            <a:r>
              <a:rPr lang="th-TH" dirty="0">
                <a:solidFill>
                  <a:srgbClr val="FF0000"/>
                </a:solidFill>
              </a:rPr>
              <a:t>อนให้กระทรวงการคลังฯ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2D7712-58CF-44B4-9262-8C7E34F25BF0}"/>
              </a:ext>
            </a:extLst>
          </p:cNvPr>
          <p:cNvSpPr txBox="1"/>
          <p:nvPr/>
        </p:nvSpPr>
        <p:spPr>
          <a:xfrm>
            <a:off x="1468192" y="771171"/>
            <a:ext cx="385078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cs typeface="+mj-cs"/>
              </a:rPr>
              <a:t>ระบบคำของบประมาณรายจ่ายประจำปี</a:t>
            </a:r>
            <a:endParaRPr lang="en-US" sz="16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5764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50800">
          <a:solidFill>
            <a:srgbClr val="C00000"/>
          </a:solidFill>
        </a:ln>
      </a:spPr>
      <a:bodyPr wrap="square" rtlCol="0">
        <a:spAutoFit/>
      </a:bodyPr>
      <a:lstStyle>
        <a:defPPr>
          <a:defRPr b="1"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3918</TotalTime>
  <Words>3317</Words>
  <Application>Microsoft Office PowerPoint</Application>
  <PresentationFormat>Widescreen</PresentationFormat>
  <Paragraphs>2026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Angsana New</vt:lpstr>
      <vt:lpstr>Arial</vt:lpstr>
      <vt:lpstr>Calibri</vt:lpstr>
      <vt:lpstr>Calibri Light</vt:lpstr>
      <vt:lpstr>Cordia New</vt:lpstr>
      <vt:lpstr>TH SarabunPSK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saner fudee</dc:creator>
  <cp:lastModifiedBy>takky -</cp:lastModifiedBy>
  <cp:revision>126</cp:revision>
  <dcterms:created xsi:type="dcterms:W3CDTF">2020-06-30T07:33:27Z</dcterms:created>
  <dcterms:modified xsi:type="dcterms:W3CDTF">2020-10-07T06:58:33Z</dcterms:modified>
</cp:coreProperties>
</file>