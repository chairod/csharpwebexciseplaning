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4" r:id="rId2"/>
    <p:sldId id="256" r:id="rId3"/>
    <p:sldId id="30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64" d="100"/>
          <a:sy n="64" d="100"/>
        </p:scale>
        <p:origin x="31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th-TH" dirty="0"/>
              <a:t>งบประมาณรายจ่ายประจำปี</a:t>
            </a:r>
            <a:r>
              <a:rPr lang="th-TH" baseline="0" dirty="0"/>
              <a:t> กรมสรรพสามิต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gradFill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gradFill>
                <a:gsLst>
                  <a:gs pos="100000">
                    <a:schemeClr val="accent2">
                      <a:lumMod val="60000"/>
                      <a:lumOff val="40000"/>
                    </a:schemeClr>
                  </a:gs>
                  <a:gs pos="0">
                    <a:schemeClr val="accent2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gradFill>
                <a:gsLst>
                  <a:gs pos="100000">
                    <a:schemeClr val="accent3">
                      <a:lumMod val="60000"/>
                      <a:lumOff val="40000"/>
                    </a:schemeClr>
                  </a:gs>
                  <a:gs pos="0">
                    <a:schemeClr val="accent3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gradFill>
                <a:gsLst>
                  <a:gs pos="100000">
                    <a:schemeClr val="accent4">
                      <a:lumMod val="60000"/>
                      <a:lumOff val="40000"/>
                    </a:schemeClr>
                  </a:gs>
                  <a:gs pos="0">
                    <a:schemeClr val="accent4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gradFill>
                <a:gsLst>
                  <a:gs pos="100000">
                    <a:schemeClr val="accent5">
                      <a:lumMod val="60000"/>
                      <a:lumOff val="40000"/>
                    </a:schemeClr>
                  </a:gs>
                  <a:gs pos="0">
                    <a:schemeClr val="accent5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Sheet1!$A$2:$A$6</c:f>
              <c:strCache>
                <c:ptCount val="5"/>
                <c:pt idx="0">
                  <c:v>งบบุคลากร</c:v>
                </c:pt>
                <c:pt idx="1">
                  <c:v>งบดำเนินงาน</c:v>
                </c:pt>
                <c:pt idx="2">
                  <c:v>งบลงทุน</c:v>
                </c:pt>
                <c:pt idx="3">
                  <c:v>งบเงินอุดหนุน</c:v>
                </c:pt>
                <c:pt idx="4">
                  <c:v>งบรายจ่ายอื่น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  <c:pt idx="4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72-4FE6-9C88-887B59E4C8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alpha val="50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pattFill prst="dkDnDiag">
      <a:fgClr>
        <a:schemeClr val="lt1"/>
      </a:fgClr>
      <a:bgClr>
        <a:schemeClr val="dk1">
          <a:lumMod val="10000"/>
          <a:lumOff val="90000"/>
        </a:schemeClr>
      </a:bgClr>
    </a:patt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th-TH" dirty="0"/>
              <a:t>งบประมาณรายจ่ายประจำปี กรมสรรพสามิต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งบบุคลากร</c:v>
                </c:pt>
                <c:pt idx="1">
                  <c:v>งบดำเนินงาน</c:v>
                </c:pt>
                <c:pt idx="2">
                  <c:v>งบลงทุน</c:v>
                </c:pt>
                <c:pt idx="3">
                  <c:v>งบเงินอุดหนุน</c:v>
                </c:pt>
                <c:pt idx="4">
                  <c:v>งบรายจ่ายอื่น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E7-474C-AB4B-447212079C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82567567"/>
        <c:axId val="1175556127"/>
      </c:barChart>
      <c:catAx>
        <c:axId val="11825675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5556127"/>
        <c:crosses val="autoZero"/>
        <c:auto val="0"/>
        <c:lblAlgn val="ctr"/>
        <c:lblOffset val="100"/>
        <c:noMultiLvlLbl val="0"/>
      </c:catAx>
      <c:valAx>
        <c:axId val="11755561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25675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6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/>
        </a:fgClr>
        <a:bgClr>
          <a:schemeClr val="dk1">
            <a:lumMod val="10000"/>
            <a:lumOff val="90000"/>
          </a:schemeClr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lumMod val="60000"/>
              <a:lumOff val="40000"/>
            </a:schemeClr>
          </a:gs>
          <a:gs pos="0">
            <a:schemeClr val="phClr"/>
          </a:gs>
        </a:gsLst>
        <a:lin ang="5400000" scaled="0"/>
      </a:gra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lumMod val="60000"/>
              <a:lumOff val="40000"/>
            </a:schemeClr>
          </a:gs>
          <a:gs pos="0">
            <a:schemeClr val="phClr"/>
          </a:gs>
        </a:gsLst>
        <a:lin ang="5400000" scaled="0"/>
      </a:gradFill>
      <a:ln w="508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50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6111-986C-45FB-A2AE-D867A3415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33BAD8-87EB-4D68-B182-71C6825CA4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740BF-E77A-4201-B604-F7AE32A5A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0BF1-7DC2-40E7-8FEC-6196D177DE34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079F0-E819-4647-9140-B2E004CCC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622BE-64EC-4764-9436-D6DFFC3D0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75783-BA95-4934-A3D5-E8065EF37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938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ED806-AC85-40D7-9FAF-AFBEFE40B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1A6CD-0B3C-41D6-8AAE-D4A857E3A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8007C-23CB-46E5-915A-CF04B826E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0BF1-7DC2-40E7-8FEC-6196D177DE34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AD8AC-A8C2-4826-95B8-87DD6CD0A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2B38A-E7F8-4B4A-A953-AECDDE5F3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75783-BA95-4934-A3D5-E8065EF37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683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49172-B6BC-4513-BF2A-FCF34834F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749C7F-5CF1-45ED-8D0E-259FCC4FF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F39D2-340E-4619-9CD7-CBF6A2344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0BF1-7DC2-40E7-8FEC-6196D177DE34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55EE3-0E32-4D76-8F15-0DA73189E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1D8A3-449E-4330-A0D0-2661EEEB2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75783-BA95-4934-A3D5-E8065EF37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751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8FF1F-538C-4EE0-A386-910629A0C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E44D8-B578-4A17-AC94-B61D1AF47E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880DC1-5FEF-456F-9371-5D15D34FEB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DE99AE-288B-4C7D-BEEC-7ECFFD453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0BF1-7DC2-40E7-8FEC-6196D177DE34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313197-3573-4EB1-ACF3-509EDE440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DFC491-31A8-4931-8937-7A1CF5182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75783-BA95-4934-A3D5-E8065EF37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245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916EB-77A3-4F09-91DB-32D590733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3A589F-C9DC-41A6-9981-EF7BB71E9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4C9F83-63E7-4D3C-AC2D-C211A6BAA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A4759A-D67E-4922-8170-861896958C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3B2A35-7474-49BF-A2D3-A1AA7F144A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1A3EF8-AC4F-40E3-B71B-F39A0E731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0BF1-7DC2-40E7-8FEC-6196D177DE34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D2FC0-E5D6-4C0C-A63E-1CB8D5814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5145BC-56E5-4BA3-B2C9-90731E966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75783-BA95-4934-A3D5-E8065EF37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408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D7620-5566-459C-B130-C79D49605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FC2B73-107E-496C-A948-AC9B4788F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0BF1-7DC2-40E7-8FEC-6196D177DE34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EA82FC-0491-4F48-B222-DA8115B72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850FF6-CBB9-40C9-9252-5A05DFE80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75783-BA95-4934-A3D5-E8065EF37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424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4E410B-7E70-4AF1-B268-021F164ED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0BF1-7DC2-40E7-8FEC-6196D177DE34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509A45-D6CE-44AF-8C47-D9730C9BB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7D08B-B7DA-4D40-A555-10C085CE3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75783-BA95-4934-A3D5-E8065EF37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419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8E7E9-8DD9-473F-A2E3-56BB21DBC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454F0-6713-44D6-8C61-C4285869D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342E11-3097-4384-96F8-EEE1787956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CE02E2-6112-4B40-BE3C-4F634897F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0BF1-7DC2-40E7-8FEC-6196D177DE34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4735FF-1C4D-4A81-964E-5E94C6793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F2674-9C85-49D2-AC8D-A85618ABC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75783-BA95-4934-A3D5-E8065EF37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11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A4C34-0FB7-4B04-8F46-9079C0968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62233B-D445-46AA-A99E-FD6C891111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91CA3-BD8B-45D1-AA24-FD0D267DCD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61B38C-0402-46A8-8951-3716AF11C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0BF1-7DC2-40E7-8FEC-6196D177DE34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BDD584-5FA2-4F92-8C7D-A43B8CFCE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822693-B1AA-4BE2-8A2E-D2EEBAB40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75783-BA95-4934-A3D5-E8065EF37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823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B7834-2DF5-4694-AE8B-FA446BC0F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0B99CB-4958-4EFD-ABA4-C497866322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492BB-7EC9-4D17-8E65-DCCA9B690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0BF1-7DC2-40E7-8FEC-6196D177DE34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BB795-709A-4123-9778-6AAE1DF34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1F1D9-3529-4445-A025-70861E9B3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75783-BA95-4934-A3D5-E8065EF37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731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7F8A46-DF7F-4214-B472-BCBCB82F96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E7FF88-B8B9-4463-BD3B-31751650D6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F94E38-561A-410A-9C14-535DA39CB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0BF1-7DC2-40E7-8FEC-6196D177DE34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D7440-B95B-4554-9E74-E82246C40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1EC20-7CDE-4D6E-A533-CE28066FB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75783-BA95-4934-A3D5-E8065EF37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303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75EC2F-4E9E-47BB-9705-A09CB5B6B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5B43B-A289-431D-8BC2-F5D1C1E4A4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6FEED-2A81-4866-987A-2E5BE35D9F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610BF1-7DC2-40E7-8FEC-6196D177DE34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D35A7-A518-4FE7-BD2A-823F4F8F36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F72EA-CCAA-4F0B-8F9B-1196CA4F8A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C75783-BA95-4934-A3D5-E8065EF37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09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ระบบจัดสรรงบประมาณ</a:t>
            </a:r>
            <a:endParaRPr lang="en-US" sz="1600" b="1" dirty="0"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3707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8192" y="282578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กิจกรรม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6541" y="281196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งบรายจ่าย</a:t>
            </a:r>
            <a:endParaRPr lang="en-US" sz="1600" b="1" dirty="0"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90177" y="5824263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68192" y="221956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แผนงาน</a:t>
            </a:r>
            <a:endParaRPr lang="en-US" sz="1600" b="1" dirty="0">
              <a:cs typeface="+mj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86540" y="22313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ผลผลิต</a:t>
            </a:r>
            <a:endParaRPr lang="en-US" sz="1600" b="1" dirty="0">
              <a:cs typeface="+mj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60997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9974" y="2910374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9636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5999" y="2863406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5BB27D-7F03-405A-94DC-78CFA0F71742}"/>
              </a:ext>
            </a:extLst>
          </p:cNvPr>
          <p:cNvSpPr txBox="1"/>
          <p:nvPr/>
        </p:nvSpPr>
        <p:spPr>
          <a:xfrm>
            <a:off x="1468191" y="3434030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ยุทธศาสตร์</a:t>
            </a:r>
            <a:endParaRPr lang="en-US" sz="1600" b="1" dirty="0"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B6DB36-43AB-436D-81D7-7DF5D222E526}"/>
              </a:ext>
            </a:extLst>
          </p:cNvPr>
          <p:cNvSpPr/>
          <p:nvPr/>
        </p:nvSpPr>
        <p:spPr>
          <a:xfrm>
            <a:off x="2609974" y="3456331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</p:spTree>
    <p:extLst>
      <p:ext uri="{BB962C8B-B14F-4D97-AF65-F5344CB8AC3E}">
        <p14:creationId xmlns:p14="http://schemas.microsoft.com/office/powerpoint/2010/main" val="361788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E0415D99-FC98-48DE-ABBE-E59FD276D5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9142293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44476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CB6D51DD-B19F-4DD3-AC9E-BB7C5E484A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8460488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87805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38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Angsana New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jack</dc:creator>
  <cp:lastModifiedBy>jack</cp:lastModifiedBy>
  <cp:revision>2</cp:revision>
  <dcterms:created xsi:type="dcterms:W3CDTF">2020-10-07T10:32:14Z</dcterms:created>
  <dcterms:modified xsi:type="dcterms:W3CDTF">2020-10-07T10:50:14Z</dcterms:modified>
</cp:coreProperties>
</file>